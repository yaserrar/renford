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12192000"/>
  <p:embeddedFontLst>
    <p:embeddedFont>
      <p:font typeface="Open Sans" pitchFamily="2" charset="0"/>
      <p:regular r:id="rId8"/>
      <p:bold r:id="rId9"/>
      <p:italic r:id="rId10"/>
      <p:boldItalic r:id="rId11"/>
    </p:embeddedFont>
    <p:embeddedFont>
      <p:font typeface="Syne" panose="020B060402020202020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9DC790-1E08-4609-BCD5-48874ED9F810}">
  <a:tblStyle styleId="{989DC790-1E08-4609-BCD5-48874ED9F8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52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bc0e876bd1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g3bc0e876bd1_1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35;g3bc0e876bd1_1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c0e876bd1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3bc0e876bd1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bc0e876bd1_0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413655" y="2182674"/>
            <a:ext cx="19200" cy="19200"/>
          </a:xfrm>
          <a:prstGeom prst="ellipse">
            <a:avLst/>
          </a:prstGeom>
          <a:solidFill>
            <a:srgbClr val="FFFFFF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728855" y="2378355"/>
            <a:ext cx="28200" cy="28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193845" y="3354020"/>
            <a:ext cx="9000" cy="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337845" y="4135832"/>
            <a:ext cx="19200" cy="1920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632550" y="4916730"/>
            <a:ext cx="19200" cy="19200"/>
          </a:xfrm>
          <a:prstGeom prst="ellipse">
            <a:avLst/>
          </a:prstGeom>
          <a:solidFill>
            <a:srgbClr val="FFFFFF">
              <a:alpha val="6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461350" y="2768804"/>
            <a:ext cx="9000" cy="9000"/>
          </a:xfrm>
          <a:prstGeom prst="ellipse">
            <a:avLst/>
          </a:prstGeom>
          <a:solidFill>
            <a:srgbClr val="FFFFFF">
              <a:alpha val="2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290150" y="4526281"/>
            <a:ext cx="19200" cy="19200"/>
          </a:xfrm>
          <a:prstGeom prst="ellipse">
            <a:avLst/>
          </a:prstGeom>
          <a:solidFill>
            <a:srgbClr val="FFFFFF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096305" y="195682"/>
            <a:ext cx="9144" cy="9144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193845" y="5307179"/>
            <a:ext cx="28200" cy="28200"/>
          </a:xfrm>
          <a:prstGeom prst="ellipse">
            <a:avLst/>
          </a:prstGeom>
          <a:solidFill>
            <a:srgbClr val="FFFFFF">
              <a:alpha val="8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1557655" y="3159253"/>
            <a:ext cx="19200" cy="1920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071255" y="3744469"/>
            <a:ext cx="9000" cy="9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900055" y="2260398"/>
            <a:ext cx="19200" cy="19200"/>
          </a:xfrm>
          <a:prstGeom prst="ellipse">
            <a:avLst/>
          </a:prstGeom>
          <a:solidFill>
            <a:srgbClr val="FFFFFF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" name="Google Shape;28;p3" descr="preencoded.png"/>
          <p:cNvPicPr preferRelativeResize="0"/>
          <p:nvPr/>
        </p:nvPicPr>
        <p:blipFill rotWithShape="1">
          <a:blip r:embed="rId3">
            <a:alphaModFix amt="8000"/>
          </a:blip>
          <a:srcRect/>
          <a:stretch/>
        </p:blipFill>
        <p:spPr>
          <a:xfrm>
            <a:off x="2260950" y="-64921"/>
            <a:ext cx="7619696" cy="761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/>
          <p:nvPr/>
        </p:nvSpPr>
        <p:spPr>
          <a:xfrm>
            <a:off x="3998310" y="5054804"/>
            <a:ext cx="609900" cy="90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2260950" y="1675075"/>
            <a:ext cx="7619700" cy="21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Syne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Rapport de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Syne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Sprints </a:t>
            </a:r>
            <a:r>
              <a:rPr lang="en-US" sz="5400" b="1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: </a:t>
            </a:r>
            <a:br>
              <a:rPr lang="en-US" sz="5400" b="1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</a:br>
            <a:r>
              <a:rPr lang="en-US" sz="5400" b="1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Renford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4675800" y="5916525"/>
            <a:ext cx="28404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Date : </a:t>
            </a:r>
            <a:r>
              <a:rPr lang="en-US" sz="2000" b="1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06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/02/2026</a:t>
            </a:r>
            <a:endParaRPr sz="2000" i="0" u="none" strike="noStrike" cap="none" dirty="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preencoded.png"/>
          <p:cNvPicPr preferRelativeResize="0"/>
          <p:nvPr/>
        </p:nvPicPr>
        <p:blipFill rotWithShape="1">
          <a:blip r:embed="rId3">
            <a:alphaModFix amt="8000"/>
          </a:blip>
          <a:srcRect r="20000" b="22600"/>
          <a:stretch/>
        </p:blipFill>
        <p:spPr>
          <a:xfrm>
            <a:off x="8382300" y="3172050"/>
            <a:ext cx="3809700" cy="36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2438705" y="698602"/>
            <a:ext cx="19200" cy="19200"/>
          </a:xfrm>
          <a:prstGeom prst="ellipse">
            <a:avLst/>
          </a:prstGeom>
          <a:solidFill>
            <a:srgbClr val="FFFFFF">
              <a:alpha val="4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657600" y="5585155"/>
            <a:ext cx="19200" cy="19200"/>
          </a:xfrm>
          <a:prstGeom prst="ellipse">
            <a:avLst/>
          </a:prstGeom>
          <a:solidFill>
            <a:srgbClr val="FFFFFF">
              <a:alpha val="6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315200" y="4887468"/>
            <a:ext cx="19200" cy="19200"/>
          </a:xfrm>
          <a:prstGeom prst="ellipse">
            <a:avLst/>
          </a:prstGeom>
          <a:solidFill>
            <a:srgbClr val="FFFFFF">
              <a:alpha val="4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096305" y="349301"/>
            <a:ext cx="9000" cy="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218895" y="6283757"/>
            <a:ext cx="28200" cy="28200"/>
          </a:xfrm>
          <a:prstGeom prst="ellipse">
            <a:avLst/>
          </a:prstGeom>
          <a:solidFill>
            <a:srgbClr val="FFFFFF">
              <a:alpha val="8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846632" y="6135998"/>
            <a:ext cx="1056900" cy="323700"/>
          </a:xfrm>
          <a:prstGeom prst="roundRect">
            <a:avLst>
              <a:gd name="adj" fmla="val 282486"/>
            </a:avLst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98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219588" y="6135998"/>
            <a:ext cx="1114800" cy="323700"/>
          </a:xfrm>
          <a:prstGeom prst="roundRect">
            <a:avLst>
              <a:gd name="adj" fmla="val 282486"/>
            </a:avLst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98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305" y="640994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 txBox="1"/>
          <p:nvPr/>
        </p:nvSpPr>
        <p:spPr>
          <a:xfrm>
            <a:off x="609905" y="6372454"/>
            <a:ext cx="223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Open Sans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Open Sans"/>
                <a:ea typeface="Open Sans"/>
                <a:cs typeface="Open Sans"/>
                <a:sym typeface="Open Sans"/>
              </a:rPr>
              <a:t>Mise à jour hebdomadaire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4" descr="preencoded.png"/>
          <p:cNvPicPr preferRelativeResize="0"/>
          <p:nvPr/>
        </p:nvPicPr>
        <p:blipFill rotWithShape="1">
          <a:blip r:embed="rId5">
            <a:alphaModFix amt="8000"/>
          </a:blip>
          <a:srcRect t="48833"/>
          <a:stretch/>
        </p:blipFill>
        <p:spPr>
          <a:xfrm>
            <a:off x="3300840" y="-99519"/>
            <a:ext cx="5715000" cy="29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 txBox="1"/>
          <p:nvPr/>
        </p:nvSpPr>
        <p:spPr>
          <a:xfrm>
            <a:off x="3599850" y="493700"/>
            <a:ext cx="49923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Syne"/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Planning VS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Réalisation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291840" y="4858207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21478" y="4858207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551115" y="4858207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680753" y="4858207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0362895" y="4188866"/>
            <a:ext cx="19200" cy="1920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291840" y="5324551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486400" y="1745590"/>
            <a:ext cx="9000" cy="9000"/>
          </a:xfrm>
          <a:prstGeom prst="ellipse">
            <a:avLst/>
          </a:prstGeom>
          <a:solidFill>
            <a:srgbClr val="FFFFFF">
              <a:alpha val="2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3291840" y="4867351"/>
            <a:ext cx="9000" cy="4662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421478" y="5324551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421478" y="4867351"/>
            <a:ext cx="9000" cy="4662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7551115" y="5324551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551115" y="4867351"/>
            <a:ext cx="9000" cy="4662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9680753" y="5324551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9680753" y="4867351"/>
            <a:ext cx="9000" cy="4662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291840" y="5563210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3291840" y="5333695"/>
            <a:ext cx="9000" cy="2376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291840" y="3001061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291840" y="2391156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5421478" y="3001061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421478" y="2391156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551115" y="3001061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7551115" y="2391156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9680753" y="3001061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9680753" y="2391156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3291840" y="3620110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291840" y="3010205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5421478" y="3620110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421478" y="3010205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7551115" y="3620110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7551115" y="3010205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9680753" y="3620110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9680753" y="3010205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421478" y="5563210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291840" y="4239158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291840" y="3629254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421478" y="4239158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421478" y="3629254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551115" y="4239158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551115" y="3629254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9680753" y="4239158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9680753" y="3629254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5421478" y="5333695"/>
            <a:ext cx="9000" cy="2376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551115" y="5563210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551115" y="5333695"/>
            <a:ext cx="9000" cy="2376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9680753" y="5563210"/>
            <a:ext cx="2124300" cy="90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291840" y="4248302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9680753" y="5333695"/>
            <a:ext cx="9000" cy="2376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421478" y="4248302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99" name="Google Shape;99;p4"/>
          <p:cNvGraphicFramePr/>
          <p:nvPr>
            <p:extLst>
              <p:ext uri="{D42A27DB-BD31-4B8C-83A1-F6EECF244321}">
                <p14:modId xmlns:p14="http://schemas.microsoft.com/office/powerpoint/2010/main" val="2433275082"/>
              </p:ext>
            </p:extLst>
          </p:nvPr>
        </p:nvGraphicFramePr>
        <p:xfrm>
          <a:off x="381300" y="1416289"/>
          <a:ext cx="11291752" cy="4345775"/>
        </p:xfrm>
        <a:graphic>
          <a:graphicData uri="http://schemas.openxmlformats.org/drawingml/2006/table">
            <a:tbl>
              <a:tblPr>
                <a:noFill/>
                <a:tableStyleId>{989DC790-1E08-4609-BCD5-48874ED9F810}</a:tableStyleId>
              </a:tblPr>
              <a:tblGrid>
                <a:gridCol w="667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4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84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439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4918">
                  <a:extLst>
                    <a:ext uri="{9D8B030D-6E8A-4147-A177-3AD203B41FA5}">
                      <a16:colId xmlns:a16="http://schemas.microsoft.com/office/drawing/2014/main" val="3820422076"/>
                    </a:ext>
                  </a:extLst>
                </a:gridCol>
                <a:gridCol w="893110">
                  <a:extLst>
                    <a:ext uri="{9D8B030D-6E8A-4147-A177-3AD203B41FA5}">
                      <a16:colId xmlns:a16="http://schemas.microsoft.com/office/drawing/2014/main" val="1591857054"/>
                    </a:ext>
                  </a:extLst>
                </a:gridCol>
                <a:gridCol w="893110">
                  <a:extLst>
                    <a:ext uri="{9D8B030D-6E8A-4147-A177-3AD203B41FA5}">
                      <a16:colId xmlns:a16="http://schemas.microsoft.com/office/drawing/2014/main" val="4075037499"/>
                    </a:ext>
                  </a:extLst>
                </a:gridCol>
              </a:tblGrid>
              <a:tr h="46494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SPRINT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NOM DU SPRINT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S1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S2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S3</a:t>
                      </a:r>
                      <a:endParaRPr/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S4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S5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S6</a:t>
                      </a:r>
                      <a:endParaRPr sz="1000" b="1" dirty="0">
                        <a:solidFill>
                          <a:schemeClr val="lt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S7</a:t>
                      </a:r>
                      <a:endParaRPr dirty="0"/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Syne" panose="020B0604020202020204" charset="0"/>
                        </a:rPr>
                        <a:t>S8</a:t>
                      </a:r>
                      <a:endParaRPr sz="1000" b="1" dirty="0">
                        <a:solidFill>
                          <a:schemeClr val="bg1"/>
                        </a:solidFill>
                        <a:latin typeface="Syne" panose="020B0604020202020204" charset="0"/>
                      </a:endParaRPr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Syne" panose="020B0604020202020204" charset="0"/>
                        </a:rPr>
                        <a:t>S9</a:t>
                      </a:r>
                      <a:endParaRPr sz="1000" b="1" dirty="0">
                        <a:solidFill>
                          <a:schemeClr val="bg1"/>
                        </a:solidFill>
                        <a:latin typeface="Syne" panose="020B0604020202020204" charset="0"/>
                      </a:endParaRPr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>
                          <a:solidFill>
                            <a:schemeClr val="bg1"/>
                          </a:solidFill>
                          <a:latin typeface="Syne" panose="020B0604020202020204" charset="0"/>
                        </a:rPr>
                        <a:t>S10</a:t>
                      </a:r>
                      <a:endParaRPr sz="1000" b="1" dirty="0">
                        <a:solidFill>
                          <a:schemeClr val="bg1"/>
                        </a:solidFill>
                        <a:latin typeface="Syne" panose="020B0604020202020204" charset="0"/>
                      </a:endParaRPr>
                    </a:p>
                  </a:txBody>
                  <a:tcPr marL="91425" marR="91425" marT="91425" marB="91425" anchor="ctr">
                    <a:solidFill>
                      <a:srgbClr val="0000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1</a:t>
                      </a:r>
                      <a:endParaRPr sz="10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E7EB"/>
                        </a:buClr>
                        <a:buSzPts val="1000"/>
                        <a:buFont typeface="Open Sans"/>
                        <a:buNone/>
                      </a:pPr>
                      <a:r>
                        <a:rPr lang="fr-FR" sz="1000" b="1" i="0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</a:rPr>
                        <a:t>Cadrage projet, Configuration, Architecture BDD </a:t>
                      </a:r>
                      <a:endParaRPr sz="1000" b="1" dirty="0">
                        <a:solidFill>
                          <a:schemeClr val="bg1"/>
                        </a:solidFill>
                        <a:latin typeface="Syne" panose="020B0604020202020204" charset="0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i="0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</a:rPr>
                        <a:t>Authentification &amp; </a:t>
                      </a:r>
                      <a:r>
                        <a:rPr lang="fr-FR" sz="1000" b="1" i="0" dirty="0" err="1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</a:rPr>
                        <a:t>Onboarding</a:t>
                      </a:r>
                      <a:endParaRPr sz="1000" b="1" dirty="0">
                        <a:solidFill>
                          <a:schemeClr val="bg1"/>
                        </a:solidFill>
                        <a:latin typeface="Syne" panose="020B0604020202020204" charset="0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i="0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</a:rPr>
                        <a:t>Profils Utilisateurs (</a:t>
                      </a:r>
                      <a:r>
                        <a:rPr lang="fr-FR" sz="1000" b="1" i="0" dirty="0" err="1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</a:rPr>
                        <a:t>Renford</a:t>
                      </a:r>
                      <a:r>
                        <a:rPr lang="fr-FR" sz="1000" b="1" i="0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</a:rPr>
                        <a:t> + Établissement)</a:t>
                      </a:r>
                      <a:endParaRPr sz="1000" b="1" dirty="0">
                        <a:solidFill>
                          <a:schemeClr val="bg1"/>
                        </a:solidFill>
                        <a:latin typeface="Syne" panose="020B0604020202020204" charset="0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i="0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</a:rPr>
                        <a:t>Système de Missions (FLEX + COACH) </a:t>
                      </a:r>
                      <a:endParaRPr sz="1000" b="1" dirty="0">
                        <a:solidFill>
                          <a:schemeClr val="bg1"/>
                        </a:solidFill>
                        <a:latin typeface="Syne" panose="020B0604020202020204" charset="0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86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 dirty="0">
                          <a:solidFill>
                            <a:schemeClr val="lt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5</a:t>
                      </a:r>
                      <a:endParaRPr sz="1000" dirty="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PaiePaiements</a:t>
                      </a:r>
                      <a:r>
                        <a:rPr lang="en-US" sz="10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 &amp; Stripe </a:t>
                      </a:r>
                      <a:r>
                        <a:rPr lang="en-US" sz="1000" b="1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Connectments</a:t>
                      </a:r>
                      <a:r>
                        <a:rPr lang="en-US" sz="10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 &amp; Stripe Connect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chemeClr val="lt1"/>
                          </a:solidFill>
                          <a:latin typeface="Syne"/>
                          <a:sym typeface="Arial"/>
                        </a:rPr>
                        <a:t>6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Syne"/>
                        <a:sym typeface="Arial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Documents &amp; Signature </a:t>
                      </a:r>
                      <a:r>
                        <a:rPr lang="en-US" sz="1000" b="1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Électronique</a:t>
                      </a:r>
                      <a:endParaRPr lang="en-US" sz="1000" b="1" i="0" u="none" strike="noStrike" cap="none" dirty="0">
                        <a:solidFill>
                          <a:schemeClr val="bg1"/>
                        </a:solidFill>
                        <a:effectLst/>
                        <a:latin typeface="Syne" panose="020B060402020202020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776611652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chemeClr val="lt1"/>
                          </a:solidFill>
                          <a:latin typeface="Syne"/>
                          <a:sym typeface="Arial"/>
                        </a:rPr>
                        <a:t>7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Syne"/>
                        <a:sym typeface="Arial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Notifications, Emails, SMS &amp; </a:t>
                      </a:r>
                      <a:r>
                        <a:rPr lang="en-US" sz="1000" b="1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Calendrier</a:t>
                      </a:r>
                      <a:endParaRPr lang="en-US" sz="1000" b="1" i="0" u="none" strike="noStrike" cap="none" dirty="0">
                        <a:solidFill>
                          <a:schemeClr val="bg1"/>
                        </a:solidFill>
                        <a:effectLst/>
                        <a:latin typeface="Syne" panose="020B060402020202020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190279453"/>
                  </a:ext>
                </a:extLst>
              </a:tr>
              <a:tr h="4578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chemeClr val="lt1"/>
                          </a:solidFill>
                          <a:latin typeface="Syne"/>
                          <a:sym typeface="Arial"/>
                        </a:rPr>
                        <a:t>8</a:t>
                      </a:r>
                      <a:endParaRPr sz="1000" b="1" i="0" u="none" strike="noStrike" cap="none" dirty="0">
                        <a:solidFill>
                          <a:schemeClr val="lt1"/>
                        </a:solidFill>
                        <a:latin typeface="Syne"/>
                        <a:sym typeface="Arial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Admin Panel, Dashboard, Tests &amp; </a:t>
                      </a:r>
                      <a:r>
                        <a:rPr lang="en-US" sz="1000" b="1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Déploiement</a:t>
                      </a:r>
                      <a:r>
                        <a:rPr lang="en-US" sz="1000" b="1" i="0" u="none" strike="noStrike" cap="none" dirty="0">
                          <a:solidFill>
                            <a:schemeClr val="bg1"/>
                          </a:solidFill>
                          <a:effectLst/>
                          <a:latin typeface="Syne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97614"/>
                  </a:ext>
                </a:extLst>
              </a:tr>
            </a:tbl>
          </a:graphicData>
        </a:graphic>
      </p:graphicFrame>
      <p:sp>
        <p:nvSpPr>
          <p:cNvPr id="100" name="Google Shape;100;p4"/>
          <p:cNvSpPr/>
          <p:nvPr/>
        </p:nvSpPr>
        <p:spPr>
          <a:xfrm>
            <a:off x="7551115" y="4248302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9680753" y="4248302"/>
            <a:ext cx="9000" cy="618900"/>
          </a:xfrm>
          <a:prstGeom prst="rect">
            <a:avLst/>
          </a:prstGeom>
          <a:solidFill>
            <a:srgbClr val="FFFFFF">
              <a:alpha val="471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" name="Google Shape;102;p4"/>
          <p:cNvGrpSpPr/>
          <p:nvPr/>
        </p:nvGrpSpPr>
        <p:grpSpPr>
          <a:xfrm>
            <a:off x="4225402" y="1080777"/>
            <a:ext cx="1005244" cy="4642887"/>
            <a:chOff x="9536799" y="1044208"/>
            <a:chExt cx="1005244" cy="4782598"/>
          </a:xfrm>
        </p:grpSpPr>
        <p:grpSp>
          <p:nvGrpSpPr>
            <p:cNvPr id="103" name="Google Shape;103;p4"/>
            <p:cNvGrpSpPr/>
            <p:nvPr/>
          </p:nvGrpSpPr>
          <p:grpSpPr>
            <a:xfrm>
              <a:off x="9536799" y="1044208"/>
              <a:ext cx="1005244" cy="258654"/>
              <a:chOff x="9536799" y="1044208"/>
              <a:chExt cx="1005244" cy="258654"/>
            </a:xfrm>
          </p:grpSpPr>
          <p:sp>
            <p:nvSpPr>
              <p:cNvPr id="104" name="Google Shape;104;p4"/>
              <p:cNvSpPr/>
              <p:nvPr/>
            </p:nvSpPr>
            <p:spPr>
              <a:xfrm>
                <a:off x="9536799" y="1044208"/>
                <a:ext cx="1005244" cy="258654"/>
              </a:xfrm>
              <a:prstGeom prst="roundRect">
                <a:avLst>
                  <a:gd name="adj" fmla="val 96154"/>
                </a:avLst>
              </a:prstGeom>
              <a:solidFill>
                <a:srgbClr val="EF4444"/>
              </a:solidFill>
              <a:ln w="12700" cap="flat" cmpd="sng">
                <a:solidFill>
                  <a:srgbClr val="FFFFFF">
                    <a:alpha val="0"/>
                  </a:srgbClr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38100" dist="25400" dir="16200000" algn="bl" rotWithShape="0">
                  <a:srgbClr val="000000">
                    <a:alpha val="298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5" name="Google Shape;105;p4"/>
              <p:cNvSpPr txBox="1"/>
              <p:nvPr/>
            </p:nvSpPr>
            <p:spPr>
              <a:xfrm>
                <a:off x="9544005" y="1125653"/>
                <a:ext cx="966889" cy="1089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800"/>
                  <a:buFont typeface="Open Sans"/>
                  <a:buNone/>
                </a:pPr>
                <a:r>
                  <a:rPr lang="en-US" sz="800" b="1" i="0" u="none" strike="noStrike" cap="none" dirty="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NOUS SOMMES           ICI</a:t>
                </a:r>
                <a:endParaRPr sz="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6" name="Google Shape;106;p4"/>
            <p:cNvSpPr/>
            <p:nvPr/>
          </p:nvSpPr>
          <p:spPr>
            <a:xfrm flipH="1">
              <a:off x="10008149" y="1373606"/>
              <a:ext cx="19200" cy="4453200"/>
            </a:xfrm>
            <a:prstGeom prst="rect">
              <a:avLst/>
            </a:prstGeom>
            <a:solidFill>
              <a:srgbClr val="EF4444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76200" dist="12700" dir="16200000" algn="bl" rotWithShape="0">
                <a:srgbClr val="EF4444">
                  <a:alpha val="6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" name="Google Shape;107;p4"/>
          <p:cNvGrpSpPr/>
          <p:nvPr/>
        </p:nvGrpSpPr>
        <p:grpSpPr>
          <a:xfrm>
            <a:off x="5059016" y="6221500"/>
            <a:ext cx="632132" cy="153150"/>
            <a:chOff x="4958350" y="6221500"/>
            <a:chExt cx="632132" cy="153150"/>
          </a:xfrm>
        </p:grpSpPr>
        <p:sp>
          <p:nvSpPr>
            <p:cNvPr id="108" name="Google Shape;108;p4"/>
            <p:cNvSpPr txBox="1"/>
            <p:nvPr/>
          </p:nvSpPr>
          <p:spPr>
            <a:xfrm>
              <a:off x="5159682" y="6221950"/>
              <a:ext cx="430800" cy="1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1D5DB"/>
                </a:buClr>
                <a:buSzPts val="900"/>
                <a:buFont typeface="Open Sans"/>
                <a:buNone/>
              </a:pPr>
              <a:r>
                <a:rPr lang="en-US" sz="900" b="1" i="0" u="none" strike="noStrike" cap="none">
                  <a:solidFill>
                    <a:srgbClr val="D1D5DB"/>
                  </a:solidFill>
                  <a:latin typeface="Open Sans"/>
                  <a:ea typeface="Open Sans"/>
                  <a:cs typeface="Open Sans"/>
                  <a:sym typeface="Open Sans"/>
                </a:rPr>
                <a:t>Réalisé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4958350" y="6221500"/>
              <a:ext cx="152700" cy="152700"/>
            </a:xfrm>
            <a:prstGeom prst="ellipse">
              <a:avLst/>
            </a:prstGeom>
            <a:solidFill>
              <a:schemeClr val="accent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4"/>
          <p:cNvGrpSpPr/>
          <p:nvPr/>
        </p:nvGrpSpPr>
        <p:grpSpPr>
          <a:xfrm>
            <a:off x="6348700" y="6221950"/>
            <a:ext cx="651188" cy="152700"/>
            <a:chOff x="6348700" y="6221950"/>
            <a:chExt cx="651188" cy="152700"/>
          </a:xfrm>
        </p:grpSpPr>
        <p:sp>
          <p:nvSpPr>
            <p:cNvPr id="111" name="Google Shape;111;p4"/>
            <p:cNvSpPr txBox="1"/>
            <p:nvPr/>
          </p:nvSpPr>
          <p:spPr>
            <a:xfrm>
              <a:off x="6554088" y="6221950"/>
              <a:ext cx="445800" cy="15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D1D5DB"/>
                </a:buClr>
                <a:buSzPts val="900"/>
                <a:buFont typeface="Open Sans"/>
                <a:buNone/>
              </a:pPr>
              <a:r>
                <a:rPr lang="en-US" sz="900" b="1" i="0" u="none" strike="noStrike" cap="none">
                  <a:solidFill>
                    <a:srgbClr val="D1D5DB"/>
                  </a:solidFill>
                  <a:latin typeface="Open Sans"/>
                  <a:ea typeface="Open Sans"/>
                  <a:cs typeface="Open Sans"/>
                  <a:sym typeface="Open Sans"/>
                </a:rPr>
                <a:t>Planifié</a:t>
              </a:r>
              <a:endParaRPr sz="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6348700" y="6221950"/>
              <a:ext cx="152700" cy="152700"/>
            </a:xfrm>
            <a:prstGeom prst="ellipse">
              <a:avLst/>
            </a:prstGeom>
            <a:solidFill>
              <a:srgbClr val="99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9753905" y="961034"/>
            <a:ext cx="28346" cy="28346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130065" y="2850575"/>
            <a:ext cx="9144" cy="9144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0371890" y="3300988"/>
            <a:ext cx="19200" cy="1920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3666595" y="4582977"/>
            <a:ext cx="19200" cy="19200"/>
          </a:xfrm>
          <a:prstGeom prst="ellipse">
            <a:avLst/>
          </a:prstGeom>
          <a:solidFill>
            <a:srgbClr val="FFFFFF">
              <a:alpha val="6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5397570" y="1889540"/>
            <a:ext cx="9144" cy="9144"/>
          </a:xfrm>
          <a:prstGeom prst="ellipse">
            <a:avLst/>
          </a:prstGeom>
          <a:solidFill>
            <a:srgbClr val="FFFFFF">
              <a:alpha val="2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7324195" y="3941983"/>
            <a:ext cx="19200" cy="19200"/>
          </a:xfrm>
          <a:prstGeom prst="ellipse">
            <a:avLst/>
          </a:prstGeom>
          <a:solidFill>
            <a:srgbClr val="FFFFFF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096305" y="320040"/>
            <a:ext cx="9144" cy="9144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11484725" y="2110438"/>
            <a:ext cx="19202" cy="1920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105300" y="2659994"/>
            <a:ext cx="9000" cy="9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925105" y="769010"/>
            <a:ext cx="19202" cy="19202"/>
          </a:xfrm>
          <a:prstGeom prst="ellipse">
            <a:avLst/>
          </a:prstGeom>
          <a:solidFill>
            <a:srgbClr val="FFFFFF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1237045" y="1702622"/>
            <a:ext cx="7143300" cy="267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yne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Fonctionnalité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8538520" y="1702622"/>
            <a:ext cx="2438700" cy="267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Syne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Avancement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5" descr="preencoded.png"/>
          <p:cNvPicPr preferRelativeResize="0"/>
          <p:nvPr/>
        </p:nvPicPr>
        <p:blipFill rotWithShape="1">
          <a:blip r:embed="rId3">
            <a:alphaModFix/>
          </a:blip>
          <a:srcRect t="-22" b="-21"/>
          <a:stretch/>
        </p:blipFill>
        <p:spPr>
          <a:xfrm>
            <a:off x="1227890" y="2312522"/>
            <a:ext cx="9753902" cy="97200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1" name="Google Shape;131;p5"/>
          <p:cNvSpPr/>
          <p:nvPr/>
        </p:nvSpPr>
        <p:spPr>
          <a:xfrm>
            <a:off x="8534861" y="2321666"/>
            <a:ext cx="9000" cy="952800"/>
          </a:xfrm>
          <a:prstGeom prst="roundRect">
            <a:avLst>
              <a:gd name="adj" fmla="val 1200000"/>
            </a:avLst>
          </a:prstGeom>
          <a:solidFill>
            <a:srgbClr val="FFFFFF">
              <a:alpha val="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1466549" y="2588671"/>
            <a:ext cx="256800" cy="304500"/>
          </a:xfrm>
          <a:prstGeom prst="roundRect">
            <a:avLst>
              <a:gd name="adj" fmla="val 355872"/>
            </a:avLst>
          </a:prstGeom>
          <a:solidFill>
            <a:srgbClr val="FFFFFF">
              <a:alpha val="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" name="Google Shape;13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5070" y="2674624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1878949" y="2560326"/>
            <a:ext cx="65151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E5E7EB"/>
              </a:buClr>
              <a:buSzPts val="1200"/>
            </a:pPr>
            <a:r>
              <a:rPr lang="fr-FR" sz="1200" b="1" dirty="0">
                <a:solidFill>
                  <a:schemeClr val="bg1"/>
                </a:solidFill>
                <a:latin typeface="Syne" panose="020B0604020202020204" charset="0"/>
              </a:rPr>
              <a:t>Mettre en place les fondations techniques de la plateforme (architecture, frontend, backend, base de données)</a:t>
            </a:r>
            <a:endParaRPr sz="1200" b="1" i="0" u="none" strike="noStrike" cap="none" dirty="0">
              <a:solidFill>
                <a:schemeClr val="bg1"/>
              </a:solidFill>
              <a:latin typeface="Syne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538518" y="2321666"/>
            <a:ext cx="2438700" cy="952800"/>
          </a:xfrm>
          <a:prstGeom prst="roundRect">
            <a:avLst>
              <a:gd name="adj" fmla="val 11516"/>
            </a:avLst>
          </a:prstGeom>
          <a:solidFill>
            <a:srgbClr val="FFFFFF">
              <a:alpha val="4705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6" name="Google Shape;136;p5" descr="preencoded.png"/>
          <p:cNvPicPr preferRelativeResize="0"/>
          <p:nvPr/>
        </p:nvPicPr>
        <p:blipFill rotWithShape="1">
          <a:blip r:embed="rId5">
            <a:alphaModFix/>
          </a:blip>
          <a:srcRect l="-190" r="-189"/>
          <a:stretch/>
        </p:blipFill>
        <p:spPr>
          <a:xfrm>
            <a:off x="8767118" y="2969976"/>
            <a:ext cx="1976017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 descr="preencoded.png"/>
          <p:cNvPicPr preferRelativeResize="0"/>
          <p:nvPr/>
        </p:nvPicPr>
        <p:blipFill rotWithShape="1">
          <a:blip r:embed="rId6">
            <a:alphaModFix/>
          </a:blip>
          <a:srcRect l="-190" r="-189"/>
          <a:stretch/>
        </p:blipFill>
        <p:spPr>
          <a:xfrm>
            <a:off x="8767118" y="2969976"/>
            <a:ext cx="1976017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 descr="preencoded.png"/>
          <p:cNvPicPr preferRelativeResize="0"/>
          <p:nvPr/>
        </p:nvPicPr>
        <p:blipFill rotWithShape="1">
          <a:blip r:embed="rId3">
            <a:alphaModFix/>
          </a:blip>
          <a:srcRect t="-22" b="-21"/>
          <a:stretch/>
        </p:blipFill>
        <p:spPr>
          <a:xfrm>
            <a:off x="1227890" y="3474724"/>
            <a:ext cx="9753902" cy="972007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9" name="Google Shape;139;p5"/>
          <p:cNvSpPr/>
          <p:nvPr/>
        </p:nvSpPr>
        <p:spPr>
          <a:xfrm>
            <a:off x="8534861" y="3483868"/>
            <a:ext cx="9000" cy="952800"/>
          </a:xfrm>
          <a:prstGeom prst="roundRect">
            <a:avLst>
              <a:gd name="adj" fmla="val 1200000"/>
            </a:avLst>
          </a:prstGeom>
          <a:solidFill>
            <a:srgbClr val="FFFFFF">
              <a:alpha val="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1466549" y="3750873"/>
            <a:ext cx="200400" cy="304500"/>
          </a:xfrm>
          <a:prstGeom prst="roundRect">
            <a:avLst>
              <a:gd name="adj" fmla="val 456620"/>
            </a:avLst>
          </a:prstGeom>
          <a:solidFill>
            <a:srgbClr val="FFFFFF">
              <a:alpha val="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98553" y="3836827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1816764" y="3712468"/>
            <a:ext cx="6563700" cy="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E5E7EB"/>
              </a:buClr>
              <a:buSzPts val="1200"/>
            </a:pPr>
            <a:r>
              <a:rPr lang="fr-FR" sz="1200" b="1" dirty="0">
                <a:solidFill>
                  <a:schemeClr val="bg1"/>
                </a:solidFill>
                <a:latin typeface="Syne" panose="020B0604020202020204" charset="0"/>
              </a:rPr>
              <a:t>Structurer les modules métiers et les intégrations clés en préparation des fonctionnalités </a:t>
            </a:r>
            <a:r>
              <a:rPr lang="fr-FR" sz="1200" b="1" dirty="0" err="1">
                <a:solidFill>
                  <a:schemeClr val="bg1"/>
                </a:solidFill>
                <a:latin typeface="Syne" panose="020B0604020202020204" charset="0"/>
              </a:rPr>
              <a:t>Renford</a:t>
            </a:r>
            <a:endParaRPr sz="1200" b="1" i="0" u="none" strike="noStrike" cap="none" dirty="0">
              <a:solidFill>
                <a:schemeClr val="bg1"/>
              </a:solidFill>
              <a:latin typeface="Syne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538518" y="3483868"/>
            <a:ext cx="2438700" cy="952800"/>
          </a:xfrm>
          <a:prstGeom prst="roundRect">
            <a:avLst>
              <a:gd name="adj" fmla="val 11516"/>
            </a:avLst>
          </a:prstGeom>
          <a:solidFill>
            <a:srgbClr val="FFFFFF">
              <a:alpha val="4705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5" descr="preencoded.png"/>
          <p:cNvPicPr preferRelativeResize="0"/>
          <p:nvPr/>
        </p:nvPicPr>
        <p:blipFill rotWithShape="1">
          <a:blip r:embed="rId5">
            <a:alphaModFix/>
          </a:blip>
          <a:srcRect l="-190" r="-189"/>
          <a:stretch/>
        </p:blipFill>
        <p:spPr>
          <a:xfrm>
            <a:off x="8767118" y="4132178"/>
            <a:ext cx="1976017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 descr="preencoded.png"/>
          <p:cNvPicPr preferRelativeResize="0"/>
          <p:nvPr/>
        </p:nvPicPr>
        <p:blipFill rotWithShape="1">
          <a:blip r:embed="rId6">
            <a:alphaModFix/>
          </a:blip>
          <a:srcRect l="-190" r="-189"/>
          <a:stretch/>
        </p:blipFill>
        <p:spPr>
          <a:xfrm>
            <a:off x="8767118" y="4132178"/>
            <a:ext cx="1976017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9353249" y="2550266"/>
            <a:ext cx="886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yne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100%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9353249" y="3712468"/>
            <a:ext cx="886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Syne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100%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2256451" y="428852"/>
            <a:ext cx="7525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yne"/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État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d'Avancement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Global</a:t>
            </a:r>
            <a:endParaRPr sz="3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228045" y="4888378"/>
            <a:ext cx="9000" cy="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3764575" y="6620780"/>
            <a:ext cx="19200" cy="19200"/>
          </a:xfrm>
          <a:prstGeom prst="ellipse">
            <a:avLst/>
          </a:prstGeom>
          <a:solidFill>
            <a:srgbClr val="FFFFFF">
              <a:alpha val="6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2438705" y="748894"/>
            <a:ext cx="19202" cy="19202"/>
          </a:xfrm>
          <a:prstGeom prst="ellipse">
            <a:avLst/>
          </a:prstGeom>
          <a:solidFill>
            <a:srgbClr val="FFFFFF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9755730" y="608058"/>
            <a:ext cx="28200" cy="28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10364720" y="3976708"/>
            <a:ext cx="19200" cy="1920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5488225" y="1356952"/>
            <a:ext cx="9000" cy="9000"/>
          </a:xfrm>
          <a:prstGeom prst="ellipse">
            <a:avLst/>
          </a:prstGeom>
          <a:solidFill>
            <a:srgbClr val="FFFFFF">
              <a:alpha val="2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096305" y="373990"/>
            <a:ext cx="9144" cy="9144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11582705" y="2620670"/>
            <a:ext cx="19202" cy="1920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7926930" y="383116"/>
            <a:ext cx="19200" cy="19200"/>
          </a:xfrm>
          <a:prstGeom prst="ellipse">
            <a:avLst/>
          </a:prstGeom>
          <a:solidFill>
            <a:srgbClr val="FFFFFF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383130" y="552280"/>
            <a:ext cx="8725200" cy="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Syne"/>
              <a:buNone/>
            </a:pPr>
            <a:r>
              <a:rPr lang="en-US" sz="27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Progrès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réalisés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cette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r>
              <a:rPr lang="en-US" sz="2700" b="1" i="0" u="none" strike="noStrike" cap="none" dirty="0" err="1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semaine</a:t>
            </a:r>
            <a:r>
              <a:rPr lang="en-US" sz="27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 : 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6" descr="preencoded.png"/>
          <p:cNvPicPr preferRelativeResize="0"/>
          <p:nvPr/>
        </p:nvPicPr>
        <p:blipFill rotWithShape="1">
          <a:blip r:embed="rId3">
            <a:alphaModFix/>
          </a:blip>
          <a:srcRect l="-2122" r="-2121"/>
          <a:stretch/>
        </p:blipFill>
        <p:spPr>
          <a:xfrm>
            <a:off x="9069015" y="761677"/>
            <a:ext cx="445313" cy="91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6"/>
          <p:cNvGrpSpPr/>
          <p:nvPr/>
        </p:nvGrpSpPr>
        <p:grpSpPr>
          <a:xfrm>
            <a:off x="9666119" y="604401"/>
            <a:ext cx="2152500" cy="324600"/>
            <a:chOff x="9666119" y="604401"/>
            <a:chExt cx="2152500" cy="324600"/>
          </a:xfrm>
        </p:grpSpPr>
        <p:sp>
          <p:nvSpPr>
            <p:cNvPr id="188" name="Google Shape;188;p6"/>
            <p:cNvSpPr/>
            <p:nvPr/>
          </p:nvSpPr>
          <p:spPr>
            <a:xfrm>
              <a:off x="9666119" y="604401"/>
              <a:ext cx="2152500" cy="323700"/>
            </a:xfrm>
            <a:prstGeom prst="roundRect">
              <a:avLst>
                <a:gd name="adj" fmla="val 282486"/>
              </a:avLst>
            </a:prstGeom>
            <a:noFill/>
            <a:ln w="12700" cap="flat" cmpd="sng">
              <a:solidFill>
                <a:srgbClr val="E5E7EB">
                  <a:alpha val="2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89" name="Google Shape;189;p6" descr="preencoded.png"/>
            <p:cNvPicPr preferRelativeResize="0"/>
            <p:nvPr/>
          </p:nvPicPr>
          <p:blipFill rotWithShape="1">
            <a:blip r:embed="rId4">
              <a:alphaModFix/>
            </a:blip>
            <a:srcRect l="-2571" r="-2570"/>
            <a:stretch/>
          </p:blipFill>
          <p:spPr>
            <a:xfrm>
              <a:off x="9790477" y="709557"/>
              <a:ext cx="105156" cy="114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6"/>
            <p:cNvSpPr txBox="1"/>
            <p:nvPr/>
          </p:nvSpPr>
          <p:spPr>
            <a:xfrm>
              <a:off x="9971528" y="604401"/>
              <a:ext cx="1793100" cy="3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Open Sans"/>
                <a:buNone/>
              </a:pPr>
              <a:r>
                <a:rPr lang="en-US" sz="1200" b="1" i="0" u="none" strike="noStrike" cap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Tâches complétées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6"/>
          <p:cNvSpPr/>
          <p:nvPr/>
        </p:nvSpPr>
        <p:spPr>
          <a:xfrm>
            <a:off x="534300" y="1142478"/>
            <a:ext cx="11123400" cy="5410200"/>
          </a:xfrm>
          <a:prstGeom prst="roundRect">
            <a:avLst>
              <a:gd name="adj" fmla="val 16667"/>
            </a:avLst>
          </a:prstGeom>
          <a:solidFill>
            <a:srgbClr val="000000">
              <a:alpha val="20000"/>
            </a:srgbClr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861836" y="1403774"/>
            <a:ext cx="5301370" cy="425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Définir l’architecture technique globale avec séparation frontend / backend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Mettre en place une architecture API REST modulaire côté backend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endParaRPr lang="fr-FR" sz="1100" b="1" dirty="0">
              <a:solidFill>
                <a:schemeClr val="bg1"/>
              </a:solidFill>
              <a:latin typeface="Syne" panose="020B0604020202020204" charset="0"/>
            </a:endParaRPr>
          </a:p>
          <a:p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Initialiser l’application web frontend avec Next.js et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TypeScript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Configurer la gestion d’état côté frontend avec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Zustand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Mettre en place la gestion des formulaires avec React Hook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Form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 et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Zod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Configurer le design system et le thème UI avec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shadcn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/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ui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 et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TailwindCSS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endParaRPr lang="fr-FR" sz="1100" b="1" dirty="0">
              <a:solidFill>
                <a:schemeClr val="bg1"/>
              </a:solidFill>
              <a:latin typeface="Syne" panose="020B0604020202020204" charset="0"/>
            </a:endParaRPr>
          </a:p>
          <a:p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Initialiser le backend avec Express.js et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TypeScript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Mettre en place la structure modulaire des modules backend (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controller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, route,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schema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, types)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endParaRPr lang="fr-FR" sz="1100" b="1" dirty="0">
              <a:solidFill>
                <a:schemeClr val="bg1"/>
              </a:solidFill>
              <a:latin typeface="Syne" panose="020B0604020202020204" charset="0"/>
            </a:endParaRPr>
          </a:p>
          <a:p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Définir et structurer le module Auth (authentification, inscription, sessions)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Mettre en place la base du module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Onboarding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 et le parcours d’inscription multi-étapes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Mettre en place l’environnement de développement local avec Docker</a:t>
            </a:r>
          </a:p>
          <a:p>
            <a:pPr marL="139700" lvl="0">
              <a:buClr>
                <a:schemeClr val="lt1"/>
              </a:buClr>
              <a:buSzPts val="1400"/>
            </a:pPr>
            <a:endParaRPr sz="1100" b="1" dirty="0">
              <a:solidFill>
                <a:schemeClr val="bg1"/>
              </a:solidFill>
              <a:latin typeface="Syne" panose="020B0604020202020204" charset="0"/>
              <a:ea typeface="Syne"/>
              <a:cs typeface="Syne"/>
              <a:sym typeface="Syne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6124649" y="1419150"/>
            <a:ext cx="5167111" cy="503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Structurer le module Utilisateur pour la gestion des profils cross-rôles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Définir l’architecture des modules Établissement et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Renford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 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Mettre en place la structure du module Mission (FLEX / COACH)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endParaRPr lang="fr-FR" sz="1100" b="1" dirty="0">
              <a:solidFill>
                <a:schemeClr val="bg1"/>
              </a:solidFill>
              <a:latin typeface="Syne" panose="020B0604020202020204" charset="0"/>
            </a:endParaRPr>
          </a:p>
          <a:p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Définir et structurer le module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Uploads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 pour la gestion des fichiers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Mettre en place la base du module Document pour la gestion des documents légaux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Définir l’architecture du module Paiement avec intégration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Stripe</a:t>
            </a: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 </a:t>
            </a:r>
            <a:r>
              <a:rPr lang="fr-FR" sz="1100" b="1" dirty="0" err="1">
                <a:solidFill>
                  <a:schemeClr val="bg1"/>
                </a:solidFill>
                <a:latin typeface="Syne" panose="020B0604020202020204" charset="0"/>
              </a:rPr>
              <a:t>Connect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Structurer les modules Évaluation et Notification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endParaRPr lang="fr-FR" sz="1100" b="1" dirty="0">
              <a:solidFill>
                <a:schemeClr val="bg1"/>
              </a:solidFill>
              <a:latin typeface="Syne" panose="020B0604020202020204" charset="0"/>
            </a:endParaRPr>
          </a:p>
          <a:p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Modéliser la première version de la base de données PostgreSQL avec Prisma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Configurer Redis pour les usages de cache et de traitements asynchrones</a:t>
            </a: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b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</a:br>
            <a:r>
              <a:rPr lang="fr-FR" sz="1100" b="1" dirty="0">
                <a:solidFill>
                  <a:schemeClr val="bg1"/>
                </a:solidFill>
                <a:latin typeface="Syne" panose="020B0604020202020204" charset="0"/>
              </a:rPr>
              <a:t>✅ Configurer la connexion entre le frontend et l’API backend</a:t>
            </a:r>
          </a:p>
          <a:p>
            <a:pPr marL="139700" lvl="0">
              <a:buClr>
                <a:schemeClr val="lt1"/>
              </a:buClr>
              <a:buSzPts val="1400"/>
            </a:pPr>
            <a:endParaRPr sz="1100" b="1" dirty="0">
              <a:solidFill>
                <a:schemeClr val="bg1"/>
              </a:solidFill>
              <a:latin typeface="Syne" panose="020B0604020202020204" charset="0"/>
              <a:ea typeface="Syne"/>
              <a:cs typeface="Syne"/>
              <a:sym typeface="Syne"/>
            </a:endParaRPr>
          </a:p>
        </p:txBody>
      </p:sp>
      <p:sp>
        <p:nvSpPr>
          <p:cNvPr id="194" name="Google Shape;194;p6"/>
          <p:cNvSpPr/>
          <p:nvPr/>
        </p:nvSpPr>
        <p:spPr>
          <a:xfrm flipH="1">
            <a:off x="6086400" y="1419155"/>
            <a:ext cx="19200" cy="44532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16200000" algn="bl" rotWithShape="0">
              <a:srgbClr val="EF4444">
                <a:alpha val="6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/>
          <p:nvPr/>
        </p:nvSpPr>
        <p:spPr>
          <a:xfrm>
            <a:off x="2413655" y="2182674"/>
            <a:ext cx="19200" cy="19200"/>
          </a:xfrm>
          <a:prstGeom prst="ellipse">
            <a:avLst/>
          </a:prstGeom>
          <a:solidFill>
            <a:srgbClr val="FFFFFF">
              <a:alpha val="4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9728855" y="2378355"/>
            <a:ext cx="28200" cy="28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1193845" y="3354020"/>
            <a:ext cx="9000" cy="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10337845" y="4135832"/>
            <a:ext cx="19200" cy="1920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3632550" y="4916730"/>
            <a:ext cx="19200" cy="19200"/>
          </a:xfrm>
          <a:prstGeom prst="ellipse">
            <a:avLst/>
          </a:prstGeom>
          <a:solidFill>
            <a:srgbClr val="FFFFFF">
              <a:alpha val="6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5461350" y="2768804"/>
            <a:ext cx="9000" cy="9000"/>
          </a:xfrm>
          <a:prstGeom prst="ellipse">
            <a:avLst/>
          </a:prstGeom>
          <a:solidFill>
            <a:srgbClr val="FFFFFF">
              <a:alpha val="2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290150" y="4526281"/>
            <a:ext cx="19200" cy="19200"/>
          </a:xfrm>
          <a:prstGeom prst="ellipse">
            <a:avLst/>
          </a:prstGeom>
          <a:solidFill>
            <a:srgbClr val="FFFFFF">
              <a:alpha val="4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6096305" y="195682"/>
            <a:ext cx="9000" cy="90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1193845" y="5307179"/>
            <a:ext cx="28200" cy="28200"/>
          </a:xfrm>
          <a:prstGeom prst="ellipse">
            <a:avLst/>
          </a:prstGeom>
          <a:solidFill>
            <a:srgbClr val="FFFFFF">
              <a:alpha val="8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11557655" y="3159253"/>
            <a:ext cx="19200" cy="19200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6071255" y="3744469"/>
            <a:ext cx="9000" cy="90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900055" y="2260398"/>
            <a:ext cx="19200" cy="19200"/>
          </a:xfrm>
          <a:prstGeom prst="ellipse">
            <a:avLst/>
          </a:prstGeom>
          <a:solidFill>
            <a:srgbClr val="FFFFFF">
              <a:alpha val="4980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8" descr="preencoded.png"/>
          <p:cNvPicPr preferRelativeResize="0"/>
          <p:nvPr/>
        </p:nvPicPr>
        <p:blipFill rotWithShape="1">
          <a:blip r:embed="rId3">
            <a:alphaModFix amt="8000"/>
          </a:blip>
          <a:srcRect/>
          <a:stretch/>
        </p:blipFill>
        <p:spPr>
          <a:xfrm>
            <a:off x="2260950" y="-64921"/>
            <a:ext cx="7619696" cy="761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/>
          <p:nvPr/>
        </p:nvSpPr>
        <p:spPr>
          <a:xfrm>
            <a:off x="3998310" y="5054804"/>
            <a:ext cx="609900" cy="9000"/>
          </a:xfrm>
          <a:prstGeom prst="rect">
            <a:avLst/>
          </a:prstGeom>
          <a:solidFill>
            <a:srgbClr val="000000">
              <a:alpha val="0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1" name="Google Shape;261;p8" descr="preencoded.png"/>
          <p:cNvPicPr preferRelativeResize="0"/>
          <p:nvPr/>
        </p:nvPicPr>
        <p:blipFill rotWithShape="1">
          <a:blip r:embed="rId4">
            <a:alphaModFix/>
          </a:blip>
          <a:srcRect t="-10" b="-9"/>
          <a:stretch/>
        </p:blipFill>
        <p:spPr>
          <a:xfrm>
            <a:off x="2260950" y="3074525"/>
            <a:ext cx="7619700" cy="128910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 txBox="1"/>
          <p:nvPr/>
        </p:nvSpPr>
        <p:spPr>
          <a:xfrm>
            <a:off x="5624572" y="6253929"/>
            <a:ext cx="1655100" cy="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pen Sans"/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Date : </a:t>
            </a:r>
            <a:r>
              <a:rPr lang="en-US" sz="1000" b="1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06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/02/2026</a:t>
            </a:r>
            <a:endParaRPr sz="1000" b="1" i="0" u="none" strike="noStrike" cap="none" dirty="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grpSp>
        <p:nvGrpSpPr>
          <p:cNvPr id="263" name="Google Shape;263;p8"/>
          <p:cNvGrpSpPr/>
          <p:nvPr/>
        </p:nvGrpSpPr>
        <p:grpSpPr>
          <a:xfrm>
            <a:off x="2625984" y="2182658"/>
            <a:ext cx="6609255" cy="1767548"/>
            <a:chOff x="4725600" y="2978925"/>
            <a:chExt cx="3312578" cy="885900"/>
          </a:xfrm>
        </p:grpSpPr>
        <p:sp>
          <p:nvSpPr>
            <p:cNvPr id="264" name="Google Shape;264;p8"/>
            <p:cNvSpPr txBox="1"/>
            <p:nvPr/>
          </p:nvSpPr>
          <p:spPr>
            <a:xfrm>
              <a:off x="4725600" y="2978925"/>
              <a:ext cx="2668800" cy="8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774"/>
                <a:buFont typeface="Syne"/>
                <a:buNone/>
              </a:pPr>
              <a:r>
                <a:rPr lang="en-US" sz="10774" b="1">
                  <a:solidFill>
                    <a:srgbClr val="FFFFFF"/>
                  </a:solidFill>
                  <a:latin typeface="Syne"/>
                  <a:ea typeface="Syne"/>
                  <a:cs typeface="Syne"/>
                  <a:sym typeface="Syne"/>
                </a:rPr>
                <a:t>Merci </a:t>
              </a:r>
              <a:endParaRPr sz="107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5" name="Google Shape;265;p8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381603" y="3159249"/>
              <a:ext cx="656575" cy="525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438</Words>
  <Application>Microsoft Office PowerPoint</Application>
  <PresentationFormat>Widescreen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Open Sans</vt:lpstr>
      <vt:lpstr>Syne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Youssef Aserrar</cp:lastModifiedBy>
  <cp:revision>12</cp:revision>
  <dcterms:modified xsi:type="dcterms:W3CDTF">2026-02-09T11:02:45Z</dcterms:modified>
</cp:coreProperties>
</file>