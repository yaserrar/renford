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9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1" r:id="rId6"/>
  </p:sldIdLst>
  <p:sldSz cx="12192000" cy="6858000"/>
  <p:notesSz cx="6858000" cy="12192000"/>
  <p:embeddedFontLst>
    <p:embeddedFont>
      <p:font typeface="Open Sans" panose="020B0606030504020204" pitchFamily="34" charset="0"/>
      <p:regular r:id="rId8"/>
      <p:bold r:id="rId9"/>
      <p:italic r:id="rId10"/>
      <p:boldItalic r:id="rId11"/>
    </p:embeddedFont>
    <p:embeddedFont>
      <p:font typeface="Syne" panose="020B0604020202020204" charset="0"/>
      <p:regular r:id="rId12"/>
      <p:bold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89DC790-1E08-4609-BCD5-48874ED9F810}">
  <a:tblStyle styleId="{989DC790-1E08-4609-BCD5-48874ED9F81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821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g3bc0e876bd1_1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" name="Google Shape;34;g3bc0e876bd1_1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g3bc0e876bd1_1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5" name="Google Shape;11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5" name="Google Shape;17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bc0e876bd1_0_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4" name="Google Shape;244;g3bc0e876bd1_0_8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g3bc0e876bd1_0_8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2413655" y="2182674"/>
            <a:ext cx="19200" cy="19200"/>
          </a:xfrm>
          <a:prstGeom prst="ellipse">
            <a:avLst/>
          </a:prstGeom>
          <a:solidFill>
            <a:srgbClr val="FFFFFF">
              <a:alpha val="49803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9728855" y="2378355"/>
            <a:ext cx="28200" cy="28200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1193845" y="3354020"/>
            <a:ext cx="9000" cy="9000"/>
          </a:xfrm>
          <a:prstGeom prst="ellipse">
            <a:avLst/>
          </a:prstGeom>
          <a:solidFill>
            <a:srgbClr val="FFFFFF">
              <a:alpha val="4000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3"/>
          <p:cNvSpPr/>
          <p:nvPr/>
        </p:nvSpPr>
        <p:spPr>
          <a:xfrm>
            <a:off x="10337845" y="4135832"/>
            <a:ext cx="19200" cy="19200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3"/>
          <p:cNvSpPr/>
          <p:nvPr/>
        </p:nvSpPr>
        <p:spPr>
          <a:xfrm>
            <a:off x="3632550" y="4916730"/>
            <a:ext cx="19200" cy="19200"/>
          </a:xfrm>
          <a:prstGeom prst="ellipse">
            <a:avLst/>
          </a:prstGeom>
          <a:solidFill>
            <a:srgbClr val="FFFFFF">
              <a:alpha val="69803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5461350" y="2768804"/>
            <a:ext cx="9000" cy="9000"/>
          </a:xfrm>
          <a:prstGeom prst="ellipse">
            <a:avLst/>
          </a:prstGeom>
          <a:solidFill>
            <a:srgbClr val="FFFFFF">
              <a:alpha val="29803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3"/>
          <p:cNvSpPr/>
          <p:nvPr/>
        </p:nvSpPr>
        <p:spPr>
          <a:xfrm>
            <a:off x="7290150" y="4526281"/>
            <a:ext cx="19200" cy="19200"/>
          </a:xfrm>
          <a:prstGeom prst="ellipse">
            <a:avLst/>
          </a:prstGeom>
          <a:solidFill>
            <a:srgbClr val="FFFFFF">
              <a:alpha val="49803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6096305" y="195682"/>
            <a:ext cx="9144" cy="9144"/>
          </a:xfrm>
          <a:prstGeom prst="ellipse">
            <a:avLst/>
          </a:prstGeom>
          <a:solidFill>
            <a:srgbClr val="FFFFFF">
              <a:alpha val="4000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3"/>
          <p:cNvSpPr/>
          <p:nvPr/>
        </p:nvSpPr>
        <p:spPr>
          <a:xfrm>
            <a:off x="1193845" y="5307179"/>
            <a:ext cx="28200" cy="28200"/>
          </a:xfrm>
          <a:prstGeom prst="ellipse">
            <a:avLst/>
          </a:prstGeom>
          <a:solidFill>
            <a:srgbClr val="FFFFFF">
              <a:alpha val="89803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3"/>
          <p:cNvSpPr/>
          <p:nvPr/>
        </p:nvSpPr>
        <p:spPr>
          <a:xfrm>
            <a:off x="11557655" y="3159253"/>
            <a:ext cx="19200" cy="19200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3"/>
          <p:cNvSpPr/>
          <p:nvPr/>
        </p:nvSpPr>
        <p:spPr>
          <a:xfrm>
            <a:off x="6071255" y="3744469"/>
            <a:ext cx="9000" cy="9000"/>
          </a:xfrm>
          <a:prstGeom prst="ellipse">
            <a:avLst/>
          </a:prstGeom>
          <a:solidFill>
            <a:srgbClr val="FFFFFF">
              <a:alpha val="2000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3"/>
          <p:cNvSpPr/>
          <p:nvPr/>
        </p:nvSpPr>
        <p:spPr>
          <a:xfrm>
            <a:off x="7900055" y="2260398"/>
            <a:ext cx="19200" cy="19200"/>
          </a:xfrm>
          <a:prstGeom prst="ellipse">
            <a:avLst/>
          </a:prstGeom>
          <a:solidFill>
            <a:srgbClr val="FFFFFF">
              <a:alpha val="49803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8" name="Google Shape;28;p3" descr="preencoded.png"/>
          <p:cNvPicPr preferRelativeResize="0"/>
          <p:nvPr/>
        </p:nvPicPr>
        <p:blipFill rotWithShape="1">
          <a:blip r:embed="rId3">
            <a:alphaModFix amt="8000"/>
          </a:blip>
          <a:srcRect/>
          <a:stretch/>
        </p:blipFill>
        <p:spPr>
          <a:xfrm>
            <a:off x="2260950" y="-64921"/>
            <a:ext cx="7619696" cy="7619696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3"/>
          <p:cNvSpPr/>
          <p:nvPr/>
        </p:nvSpPr>
        <p:spPr>
          <a:xfrm>
            <a:off x="3998310" y="5054804"/>
            <a:ext cx="609900" cy="9000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3"/>
          <p:cNvSpPr txBox="1"/>
          <p:nvPr/>
        </p:nvSpPr>
        <p:spPr>
          <a:xfrm>
            <a:off x="2260950" y="1675075"/>
            <a:ext cx="7619700" cy="21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400"/>
              <a:buFont typeface="Syne"/>
              <a:buNone/>
            </a:pPr>
            <a:r>
              <a:rPr lang="en-US" sz="5400" b="1" i="0" u="none" strike="noStrike" cap="none" dirty="0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 Rapport de</a:t>
            </a:r>
            <a:endParaRPr sz="5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400"/>
              <a:buFont typeface="Syne"/>
              <a:buNone/>
            </a:pPr>
            <a:r>
              <a:rPr lang="en-US" sz="5400" b="1" i="0" u="none" strike="noStrike" cap="none" dirty="0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Sprints </a:t>
            </a:r>
            <a:r>
              <a:rPr lang="en-US" sz="5400" b="1" dirty="0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: </a:t>
            </a:r>
            <a:br>
              <a:rPr lang="en-US" sz="5400" b="1" dirty="0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</a:br>
            <a:r>
              <a:rPr lang="en-US" sz="5400" b="1" dirty="0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Renford</a:t>
            </a:r>
            <a:endParaRPr sz="5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3"/>
          <p:cNvSpPr txBox="1"/>
          <p:nvPr/>
        </p:nvSpPr>
        <p:spPr>
          <a:xfrm>
            <a:off x="4675800" y="5916525"/>
            <a:ext cx="2840400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Open Sans"/>
              <a:buNone/>
            </a:pPr>
            <a:r>
              <a:rPr lang="en-US" sz="2000" b="1" i="0" u="none" strike="noStrike" cap="none" dirty="0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Date : </a:t>
            </a:r>
            <a:r>
              <a:rPr lang="en-US" sz="2000" b="1" dirty="0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06</a:t>
            </a:r>
            <a:r>
              <a:rPr lang="en-US" sz="2000" b="1" i="0" u="none" strike="noStrike" cap="none" dirty="0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/02/2026</a:t>
            </a:r>
            <a:endParaRPr sz="2000" i="0" u="none" strike="noStrike" cap="none" dirty="0">
              <a:solidFill>
                <a:schemeClr val="dk1"/>
              </a:solidFill>
              <a:latin typeface="Syne"/>
              <a:ea typeface="Syne"/>
              <a:cs typeface="Syne"/>
              <a:sym typeface="Syne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4" descr="preencoded.png"/>
          <p:cNvPicPr preferRelativeResize="0"/>
          <p:nvPr/>
        </p:nvPicPr>
        <p:blipFill rotWithShape="1">
          <a:blip r:embed="rId3">
            <a:alphaModFix amt="8000"/>
          </a:blip>
          <a:srcRect r="20000" b="22600"/>
          <a:stretch/>
        </p:blipFill>
        <p:spPr>
          <a:xfrm>
            <a:off x="8382300" y="3172050"/>
            <a:ext cx="3809700" cy="3685950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4"/>
          <p:cNvSpPr/>
          <p:nvPr/>
        </p:nvSpPr>
        <p:spPr>
          <a:xfrm>
            <a:off x="2438705" y="698602"/>
            <a:ext cx="19200" cy="19200"/>
          </a:xfrm>
          <a:prstGeom prst="ellipse">
            <a:avLst/>
          </a:prstGeom>
          <a:solidFill>
            <a:srgbClr val="FFFFFF">
              <a:alpha val="4980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4"/>
          <p:cNvSpPr/>
          <p:nvPr/>
        </p:nvSpPr>
        <p:spPr>
          <a:xfrm>
            <a:off x="3657600" y="5585155"/>
            <a:ext cx="19200" cy="19200"/>
          </a:xfrm>
          <a:prstGeom prst="ellipse">
            <a:avLst/>
          </a:prstGeom>
          <a:solidFill>
            <a:srgbClr val="FFFFFF">
              <a:alpha val="6980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4"/>
          <p:cNvSpPr/>
          <p:nvPr/>
        </p:nvSpPr>
        <p:spPr>
          <a:xfrm>
            <a:off x="7315200" y="4887468"/>
            <a:ext cx="19200" cy="19200"/>
          </a:xfrm>
          <a:prstGeom prst="ellipse">
            <a:avLst/>
          </a:prstGeom>
          <a:solidFill>
            <a:srgbClr val="FFFFFF">
              <a:alpha val="4980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4"/>
          <p:cNvSpPr/>
          <p:nvPr/>
        </p:nvSpPr>
        <p:spPr>
          <a:xfrm>
            <a:off x="6096305" y="349301"/>
            <a:ext cx="9000" cy="9000"/>
          </a:xfrm>
          <a:prstGeom prst="ellipse">
            <a:avLst/>
          </a:prstGeom>
          <a:solidFill>
            <a:srgbClr val="FFFFFF">
              <a:alpha val="4000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4"/>
          <p:cNvSpPr/>
          <p:nvPr/>
        </p:nvSpPr>
        <p:spPr>
          <a:xfrm>
            <a:off x="1218895" y="6283757"/>
            <a:ext cx="28200" cy="28200"/>
          </a:xfrm>
          <a:prstGeom prst="ellipse">
            <a:avLst/>
          </a:prstGeom>
          <a:solidFill>
            <a:srgbClr val="FFFFFF">
              <a:alpha val="8980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4"/>
          <p:cNvSpPr/>
          <p:nvPr/>
        </p:nvSpPr>
        <p:spPr>
          <a:xfrm>
            <a:off x="4846632" y="6135998"/>
            <a:ext cx="1056900" cy="323700"/>
          </a:xfrm>
          <a:prstGeom prst="roundRect">
            <a:avLst>
              <a:gd name="adj" fmla="val 282486"/>
            </a:avLst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98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4"/>
          <p:cNvSpPr/>
          <p:nvPr/>
        </p:nvSpPr>
        <p:spPr>
          <a:xfrm>
            <a:off x="6219588" y="6135998"/>
            <a:ext cx="1114800" cy="323700"/>
          </a:xfrm>
          <a:prstGeom prst="roundRect">
            <a:avLst>
              <a:gd name="adj" fmla="val 282486"/>
            </a:avLst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98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7" name="Google Shape;47;p4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305" y="6409944"/>
            <a:ext cx="152705" cy="152705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4"/>
          <p:cNvSpPr txBox="1"/>
          <p:nvPr/>
        </p:nvSpPr>
        <p:spPr>
          <a:xfrm>
            <a:off x="609905" y="6372454"/>
            <a:ext cx="22329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Open Sans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Open Sans"/>
                <a:ea typeface="Open Sans"/>
                <a:cs typeface="Open Sans"/>
                <a:sym typeface="Open Sans"/>
              </a:rPr>
              <a:t>Mise à jour hebdomadaire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9" name="Google Shape;49;p4" descr="preencoded.png"/>
          <p:cNvPicPr preferRelativeResize="0"/>
          <p:nvPr/>
        </p:nvPicPr>
        <p:blipFill rotWithShape="1">
          <a:blip r:embed="rId5">
            <a:alphaModFix amt="8000"/>
          </a:blip>
          <a:srcRect t="48833"/>
          <a:stretch/>
        </p:blipFill>
        <p:spPr>
          <a:xfrm>
            <a:off x="3300840" y="-99519"/>
            <a:ext cx="5715000" cy="292410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4"/>
          <p:cNvSpPr txBox="1"/>
          <p:nvPr/>
        </p:nvSpPr>
        <p:spPr>
          <a:xfrm>
            <a:off x="3599850" y="493700"/>
            <a:ext cx="4992300" cy="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Syne"/>
              <a:buNone/>
            </a:pPr>
            <a:r>
              <a:rPr lang="en-US" sz="2700" b="1" i="0" u="none" strike="noStrike" cap="none" dirty="0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 Planning VS </a:t>
            </a:r>
            <a:r>
              <a:rPr lang="en-US" sz="2700" b="1" i="0" u="none" strike="noStrike" cap="none" dirty="0" err="1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Réalisation</a:t>
            </a:r>
            <a:endParaRPr sz="27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3291840" y="4858207"/>
            <a:ext cx="2124300" cy="90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4"/>
          <p:cNvSpPr/>
          <p:nvPr/>
        </p:nvSpPr>
        <p:spPr>
          <a:xfrm>
            <a:off x="5421478" y="4858207"/>
            <a:ext cx="2124300" cy="90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4"/>
          <p:cNvSpPr/>
          <p:nvPr/>
        </p:nvSpPr>
        <p:spPr>
          <a:xfrm>
            <a:off x="7551115" y="4858207"/>
            <a:ext cx="2124300" cy="90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4"/>
          <p:cNvSpPr/>
          <p:nvPr/>
        </p:nvSpPr>
        <p:spPr>
          <a:xfrm>
            <a:off x="9680753" y="4858207"/>
            <a:ext cx="2124300" cy="90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4"/>
          <p:cNvSpPr/>
          <p:nvPr/>
        </p:nvSpPr>
        <p:spPr>
          <a:xfrm>
            <a:off x="10362895" y="4188866"/>
            <a:ext cx="19200" cy="19200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4"/>
          <p:cNvSpPr/>
          <p:nvPr/>
        </p:nvSpPr>
        <p:spPr>
          <a:xfrm>
            <a:off x="3291840" y="5324551"/>
            <a:ext cx="2124300" cy="90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4"/>
          <p:cNvSpPr/>
          <p:nvPr/>
        </p:nvSpPr>
        <p:spPr>
          <a:xfrm>
            <a:off x="5486400" y="1745590"/>
            <a:ext cx="9000" cy="9000"/>
          </a:xfrm>
          <a:prstGeom prst="ellipse">
            <a:avLst/>
          </a:prstGeom>
          <a:solidFill>
            <a:srgbClr val="FFFFFF">
              <a:alpha val="2980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4"/>
          <p:cNvSpPr/>
          <p:nvPr/>
        </p:nvSpPr>
        <p:spPr>
          <a:xfrm>
            <a:off x="3291840" y="4867351"/>
            <a:ext cx="9000" cy="4662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4"/>
          <p:cNvSpPr/>
          <p:nvPr/>
        </p:nvSpPr>
        <p:spPr>
          <a:xfrm>
            <a:off x="5421478" y="5324551"/>
            <a:ext cx="2124300" cy="90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4"/>
          <p:cNvSpPr/>
          <p:nvPr/>
        </p:nvSpPr>
        <p:spPr>
          <a:xfrm>
            <a:off x="5421478" y="4867351"/>
            <a:ext cx="9000" cy="4662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4"/>
          <p:cNvSpPr/>
          <p:nvPr/>
        </p:nvSpPr>
        <p:spPr>
          <a:xfrm>
            <a:off x="7551115" y="5324551"/>
            <a:ext cx="2124300" cy="90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4"/>
          <p:cNvSpPr/>
          <p:nvPr/>
        </p:nvSpPr>
        <p:spPr>
          <a:xfrm>
            <a:off x="7551115" y="4867351"/>
            <a:ext cx="9000" cy="4662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4"/>
          <p:cNvSpPr/>
          <p:nvPr/>
        </p:nvSpPr>
        <p:spPr>
          <a:xfrm>
            <a:off x="9680753" y="5324551"/>
            <a:ext cx="2124300" cy="90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4"/>
          <p:cNvSpPr/>
          <p:nvPr/>
        </p:nvSpPr>
        <p:spPr>
          <a:xfrm>
            <a:off x="9680753" y="4867351"/>
            <a:ext cx="9000" cy="4662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4"/>
          <p:cNvSpPr/>
          <p:nvPr/>
        </p:nvSpPr>
        <p:spPr>
          <a:xfrm>
            <a:off x="3291840" y="5563210"/>
            <a:ext cx="2124300" cy="90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4"/>
          <p:cNvSpPr/>
          <p:nvPr/>
        </p:nvSpPr>
        <p:spPr>
          <a:xfrm>
            <a:off x="3291840" y="5333695"/>
            <a:ext cx="9000" cy="2376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4"/>
          <p:cNvSpPr/>
          <p:nvPr/>
        </p:nvSpPr>
        <p:spPr>
          <a:xfrm>
            <a:off x="3291840" y="3001061"/>
            <a:ext cx="2124300" cy="90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4"/>
          <p:cNvSpPr/>
          <p:nvPr/>
        </p:nvSpPr>
        <p:spPr>
          <a:xfrm>
            <a:off x="3291840" y="2391156"/>
            <a:ext cx="9000" cy="6189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4"/>
          <p:cNvSpPr/>
          <p:nvPr/>
        </p:nvSpPr>
        <p:spPr>
          <a:xfrm>
            <a:off x="5421478" y="3001061"/>
            <a:ext cx="2124300" cy="90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4"/>
          <p:cNvSpPr/>
          <p:nvPr/>
        </p:nvSpPr>
        <p:spPr>
          <a:xfrm>
            <a:off x="5421478" y="2391156"/>
            <a:ext cx="9000" cy="6189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4"/>
          <p:cNvSpPr/>
          <p:nvPr/>
        </p:nvSpPr>
        <p:spPr>
          <a:xfrm>
            <a:off x="7551115" y="3001061"/>
            <a:ext cx="2124300" cy="90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4"/>
          <p:cNvSpPr/>
          <p:nvPr/>
        </p:nvSpPr>
        <p:spPr>
          <a:xfrm>
            <a:off x="7551115" y="2391156"/>
            <a:ext cx="9000" cy="6189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4"/>
          <p:cNvSpPr/>
          <p:nvPr/>
        </p:nvSpPr>
        <p:spPr>
          <a:xfrm>
            <a:off x="9680753" y="3001061"/>
            <a:ext cx="2124300" cy="90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4"/>
          <p:cNvSpPr/>
          <p:nvPr/>
        </p:nvSpPr>
        <p:spPr>
          <a:xfrm>
            <a:off x="9680753" y="2391156"/>
            <a:ext cx="9000" cy="6189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4"/>
          <p:cNvSpPr/>
          <p:nvPr/>
        </p:nvSpPr>
        <p:spPr>
          <a:xfrm>
            <a:off x="3291840" y="3620110"/>
            <a:ext cx="2124300" cy="90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4"/>
          <p:cNvSpPr/>
          <p:nvPr/>
        </p:nvSpPr>
        <p:spPr>
          <a:xfrm>
            <a:off x="3291840" y="3010205"/>
            <a:ext cx="9000" cy="6189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4"/>
          <p:cNvSpPr/>
          <p:nvPr/>
        </p:nvSpPr>
        <p:spPr>
          <a:xfrm>
            <a:off x="5421478" y="3620110"/>
            <a:ext cx="2124300" cy="90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4"/>
          <p:cNvSpPr/>
          <p:nvPr/>
        </p:nvSpPr>
        <p:spPr>
          <a:xfrm>
            <a:off x="5421478" y="3010205"/>
            <a:ext cx="9000" cy="6189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4"/>
          <p:cNvSpPr/>
          <p:nvPr/>
        </p:nvSpPr>
        <p:spPr>
          <a:xfrm>
            <a:off x="7551115" y="3620110"/>
            <a:ext cx="2124300" cy="90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4"/>
          <p:cNvSpPr/>
          <p:nvPr/>
        </p:nvSpPr>
        <p:spPr>
          <a:xfrm>
            <a:off x="7551115" y="3010205"/>
            <a:ext cx="9000" cy="6189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4"/>
          <p:cNvSpPr/>
          <p:nvPr/>
        </p:nvSpPr>
        <p:spPr>
          <a:xfrm>
            <a:off x="9680753" y="3620110"/>
            <a:ext cx="2124300" cy="90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4"/>
          <p:cNvSpPr/>
          <p:nvPr/>
        </p:nvSpPr>
        <p:spPr>
          <a:xfrm>
            <a:off x="9680753" y="3010205"/>
            <a:ext cx="9000" cy="6189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4"/>
          <p:cNvSpPr/>
          <p:nvPr/>
        </p:nvSpPr>
        <p:spPr>
          <a:xfrm>
            <a:off x="5421478" y="5563210"/>
            <a:ext cx="2124300" cy="90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4"/>
          <p:cNvSpPr/>
          <p:nvPr/>
        </p:nvSpPr>
        <p:spPr>
          <a:xfrm>
            <a:off x="3291840" y="4239158"/>
            <a:ext cx="2124300" cy="90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4"/>
          <p:cNvSpPr/>
          <p:nvPr/>
        </p:nvSpPr>
        <p:spPr>
          <a:xfrm>
            <a:off x="3291840" y="3629254"/>
            <a:ext cx="9000" cy="6189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4"/>
          <p:cNvSpPr/>
          <p:nvPr/>
        </p:nvSpPr>
        <p:spPr>
          <a:xfrm>
            <a:off x="5421478" y="4239158"/>
            <a:ext cx="2124300" cy="90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4"/>
          <p:cNvSpPr/>
          <p:nvPr/>
        </p:nvSpPr>
        <p:spPr>
          <a:xfrm>
            <a:off x="5421478" y="3629254"/>
            <a:ext cx="9000" cy="6189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4"/>
          <p:cNvSpPr/>
          <p:nvPr/>
        </p:nvSpPr>
        <p:spPr>
          <a:xfrm>
            <a:off x="7551115" y="4239158"/>
            <a:ext cx="2124300" cy="90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4"/>
          <p:cNvSpPr/>
          <p:nvPr/>
        </p:nvSpPr>
        <p:spPr>
          <a:xfrm>
            <a:off x="7551115" y="3629254"/>
            <a:ext cx="9000" cy="6189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4"/>
          <p:cNvSpPr/>
          <p:nvPr/>
        </p:nvSpPr>
        <p:spPr>
          <a:xfrm>
            <a:off x="9680753" y="4239158"/>
            <a:ext cx="2124300" cy="90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4"/>
          <p:cNvSpPr/>
          <p:nvPr/>
        </p:nvSpPr>
        <p:spPr>
          <a:xfrm>
            <a:off x="9680753" y="3629254"/>
            <a:ext cx="9000" cy="6189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4"/>
          <p:cNvSpPr/>
          <p:nvPr/>
        </p:nvSpPr>
        <p:spPr>
          <a:xfrm>
            <a:off x="5421478" y="5333695"/>
            <a:ext cx="9000" cy="2376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4"/>
          <p:cNvSpPr/>
          <p:nvPr/>
        </p:nvSpPr>
        <p:spPr>
          <a:xfrm>
            <a:off x="7551115" y="5563210"/>
            <a:ext cx="2124300" cy="90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4"/>
          <p:cNvSpPr/>
          <p:nvPr/>
        </p:nvSpPr>
        <p:spPr>
          <a:xfrm>
            <a:off x="7551115" y="5333695"/>
            <a:ext cx="9000" cy="2376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4"/>
          <p:cNvSpPr/>
          <p:nvPr/>
        </p:nvSpPr>
        <p:spPr>
          <a:xfrm>
            <a:off x="9680753" y="5563210"/>
            <a:ext cx="2124300" cy="90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4"/>
          <p:cNvSpPr/>
          <p:nvPr/>
        </p:nvSpPr>
        <p:spPr>
          <a:xfrm>
            <a:off x="3291840" y="4248302"/>
            <a:ext cx="9000" cy="6189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4"/>
          <p:cNvSpPr/>
          <p:nvPr/>
        </p:nvSpPr>
        <p:spPr>
          <a:xfrm>
            <a:off x="9680753" y="5333695"/>
            <a:ext cx="9000" cy="2376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4"/>
          <p:cNvSpPr/>
          <p:nvPr/>
        </p:nvSpPr>
        <p:spPr>
          <a:xfrm>
            <a:off x="5421478" y="4248302"/>
            <a:ext cx="9000" cy="6189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99" name="Google Shape;99;p4"/>
          <p:cNvGraphicFramePr/>
          <p:nvPr>
            <p:extLst>
              <p:ext uri="{D42A27DB-BD31-4B8C-83A1-F6EECF244321}">
                <p14:modId xmlns:p14="http://schemas.microsoft.com/office/powerpoint/2010/main" val="1420500020"/>
              </p:ext>
            </p:extLst>
          </p:nvPr>
        </p:nvGraphicFramePr>
        <p:xfrm>
          <a:off x="381300" y="1416288"/>
          <a:ext cx="11291752" cy="4463026"/>
        </p:xfrm>
        <a:graphic>
          <a:graphicData uri="http://schemas.openxmlformats.org/drawingml/2006/table">
            <a:tbl>
              <a:tblPr>
                <a:noFill/>
                <a:tableStyleId>{989DC790-1E08-4609-BCD5-48874ED9F810}</a:tableStyleId>
              </a:tblPr>
              <a:tblGrid>
                <a:gridCol w="6674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27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19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391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491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89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841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379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843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94918">
                  <a:extLst>
                    <a:ext uri="{9D8B030D-6E8A-4147-A177-3AD203B41FA5}">
                      <a16:colId xmlns:a16="http://schemas.microsoft.com/office/drawing/2014/main" val="3820422076"/>
                    </a:ext>
                  </a:extLst>
                </a:gridCol>
                <a:gridCol w="893110">
                  <a:extLst>
                    <a:ext uri="{9D8B030D-6E8A-4147-A177-3AD203B41FA5}">
                      <a16:colId xmlns:a16="http://schemas.microsoft.com/office/drawing/2014/main" val="1591857054"/>
                    </a:ext>
                  </a:extLst>
                </a:gridCol>
                <a:gridCol w="893110">
                  <a:extLst>
                    <a:ext uri="{9D8B030D-6E8A-4147-A177-3AD203B41FA5}">
                      <a16:colId xmlns:a16="http://schemas.microsoft.com/office/drawing/2014/main" val="4075037499"/>
                    </a:ext>
                  </a:extLst>
                </a:gridCol>
              </a:tblGrid>
              <a:tr h="64597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>
                          <a:solidFill>
                            <a:schemeClr val="lt1"/>
                          </a:solidFill>
                          <a:latin typeface="Syne"/>
                          <a:ea typeface="Syne"/>
                          <a:cs typeface="Syne"/>
                          <a:sym typeface="Syne"/>
                        </a:rPr>
                        <a:t>SPRINT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rgbClr val="00000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chemeClr val="lt1"/>
                          </a:solidFill>
                          <a:latin typeface="Syne"/>
                          <a:ea typeface="Syne"/>
                          <a:cs typeface="Syne"/>
                          <a:sym typeface="Syne"/>
                        </a:rPr>
                        <a:t>NOM DU SPRINT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rgbClr val="00000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>
                          <a:solidFill>
                            <a:schemeClr val="lt1"/>
                          </a:solidFill>
                          <a:latin typeface="Syne"/>
                          <a:ea typeface="Syne"/>
                          <a:cs typeface="Syne"/>
                          <a:sym typeface="Syne"/>
                        </a:rPr>
                        <a:t>S1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rgbClr val="00000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>
                          <a:solidFill>
                            <a:schemeClr val="lt1"/>
                          </a:solidFill>
                          <a:latin typeface="Syne"/>
                          <a:ea typeface="Syne"/>
                          <a:cs typeface="Syne"/>
                          <a:sym typeface="Syne"/>
                        </a:rPr>
                        <a:t>S2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rgbClr val="00000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>
                          <a:solidFill>
                            <a:schemeClr val="lt1"/>
                          </a:solidFill>
                          <a:latin typeface="Syne"/>
                          <a:ea typeface="Syne"/>
                          <a:cs typeface="Syne"/>
                          <a:sym typeface="Syne"/>
                        </a:rPr>
                        <a:t>S3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rgbClr val="00000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chemeClr val="lt1"/>
                          </a:solidFill>
                          <a:latin typeface="Syne"/>
                          <a:ea typeface="Syne"/>
                          <a:cs typeface="Syne"/>
                          <a:sym typeface="Syne"/>
                        </a:rPr>
                        <a:t>S4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rgbClr val="00000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chemeClr val="lt1"/>
                          </a:solidFill>
                          <a:latin typeface="Syne"/>
                          <a:ea typeface="Syne"/>
                          <a:cs typeface="Syne"/>
                          <a:sym typeface="Syne"/>
                        </a:rPr>
                        <a:t>S5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rgbClr val="00000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chemeClr val="lt1"/>
                          </a:solidFill>
                          <a:latin typeface="Syne"/>
                          <a:ea typeface="Syne"/>
                          <a:cs typeface="Syne"/>
                          <a:sym typeface="Syne"/>
                        </a:rPr>
                        <a:t>S6</a:t>
                      </a:r>
                      <a:endParaRPr sz="1000" b="1" dirty="0">
                        <a:solidFill>
                          <a:schemeClr val="lt1"/>
                        </a:solidFill>
                        <a:latin typeface="Syne"/>
                        <a:ea typeface="Syne"/>
                        <a:cs typeface="Syne"/>
                        <a:sym typeface="Syne"/>
                      </a:endParaRPr>
                    </a:p>
                  </a:txBody>
                  <a:tcPr marL="91425" marR="91425" marT="91425" marB="91425" anchor="ctr">
                    <a:solidFill>
                      <a:srgbClr val="00000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chemeClr val="lt1"/>
                          </a:solidFill>
                          <a:latin typeface="Syne"/>
                          <a:ea typeface="Syne"/>
                          <a:cs typeface="Syne"/>
                          <a:sym typeface="Syne"/>
                        </a:rPr>
                        <a:t>S7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rgbClr val="00000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000" b="1" dirty="0">
                          <a:solidFill>
                            <a:schemeClr val="bg1"/>
                          </a:solidFill>
                          <a:latin typeface="Syne" panose="020B0604020202020204" charset="0"/>
                        </a:rPr>
                        <a:t>S8</a:t>
                      </a:r>
                      <a:endParaRPr sz="1000" b="1" dirty="0">
                        <a:solidFill>
                          <a:schemeClr val="bg1"/>
                        </a:solidFill>
                        <a:latin typeface="Syne" panose="020B0604020202020204" charset="0"/>
                      </a:endParaRPr>
                    </a:p>
                  </a:txBody>
                  <a:tcPr marL="91425" marR="91425" marT="91425" marB="91425" anchor="ctr">
                    <a:solidFill>
                      <a:srgbClr val="00000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000" b="1" dirty="0">
                          <a:solidFill>
                            <a:schemeClr val="bg1"/>
                          </a:solidFill>
                          <a:latin typeface="Syne" panose="020B0604020202020204" charset="0"/>
                        </a:rPr>
                        <a:t>S9</a:t>
                      </a:r>
                      <a:endParaRPr sz="1000" b="1" dirty="0">
                        <a:solidFill>
                          <a:schemeClr val="bg1"/>
                        </a:solidFill>
                        <a:latin typeface="Syne" panose="020B0604020202020204" charset="0"/>
                      </a:endParaRPr>
                    </a:p>
                  </a:txBody>
                  <a:tcPr marL="91425" marR="91425" marT="91425" marB="91425" anchor="ctr">
                    <a:solidFill>
                      <a:srgbClr val="00000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000" b="1" dirty="0">
                          <a:solidFill>
                            <a:schemeClr val="bg1"/>
                          </a:solidFill>
                          <a:latin typeface="Syne" panose="020B0604020202020204" charset="0"/>
                        </a:rPr>
                        <a:t>S10</a:t>
                      </a:r>
                      <a:endParaRPr sz="1000" b="1" dirty="0">
                        <a:solidFill>
                          <a:schemeClr val="bg1"/>
                        </a:solidFill>
                        <a:latin typeface="Syne" panose="020B0604020202020204" charset="0"/>
                      </a:endParaRPr>
                    </a:p>
                  </a:txBody>
                  <a:tcPr marL="91425" marR="91425" marT="91425" marB="91425" anchor="ctr">
                    <a:solidFill>
                      <a:srgbClr val="000000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6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 b="1" dirty="0">
                          <a:solidFill>
                            <a:schemeClr val="lt1"/>
                          </a:solidFill>
                          <a:latin typeface="Syne"/>
                          <a:ea typeface="Syne"/>
                          <a:cs typeface="Syne"/>
                          <a:sym typeface="Syne"/>
                        </a:rPr>
                        <a:t>1</a:t>
                      </a:r>
                      <a:endParaRPr sz="1000" dirty="0"/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5E7EB"/>
                        </a:buClr>
                        <a:buSzPts val="1000"/>
                        <a:buFont typeface="Open Sans"/>
                        <a:buNone/>
                      </a:pPr>
                      <a:r>
                        <a:rPr lang="fr-FR" sz="1000" b="1" i="0" dirty="0">
                          <a:solidFill>
                            <a:schemeClr val="bg1"/>
                          </a:solidFill>
                          <a:effectLst/>
                          <a:latin typeface="Syne" panose="020B0604020202020204" charset="0"/>
                        </a:rPr>
                        <a:t>Architecture de base de données</a:t>
                      </a:r>
                      <a:endParaRPr sz="1000" b="1" dirty="0">
                        <a:solidFill>
                          <a:schemeClr val="bg1"/>
                        </a:solidFill>
                        <a:latin typeface="Syne" panose="020B0604020202020204" charset="0"/>
                        <a:ea typeface="Syne"/>
                        <a:cs typeface="Syne"/>
                        <a:sym typeface="Syne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6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 b="1">
                          <a:solidFill>
                            <a:schemeClr val="lt1"/>
                          </a:solidFill>
                          <a:latin typeface="Syne"/>
                          <a:ea typeface="Syne"/>
                          <a:cs typeface="Syne"/>
                          <a:sym typeface="Syne"/>
                        </a:rPr>
                        <a:t>2</a:t>
                      </a:r>
                      <a:endParaRPr sz="1000"/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fr-FR" sz="1000" b="1" i="0" dirty="0">
                          <a:solidFill>
                            <a:schemeClr val="bg1"/>
                          </a:solidFill>
                          <a:effectLst/>
                          <a:latin typeface="Syne" panose="020B0604020202020204" charset="0"/>
                        </a:rPr>
                        <a:t>Développement du backend</a:t>
                      </a:r>
                      <a:endParaRPr sz="1000" b="1" dirty="0">
                        <a:solidFill>
                          <a:schemeClr val="bg1"/>
                        </a:solidFill>
                        <a:latin typeface="Syne" panose="020B0604020202020204" charset="0"/>
                        <a:ea typeface="Syne"/>
                        <a:cs typeface="Syne"/>
                        <a:sym typeface="Syne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6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 b="1">
                          <a:solidFill>
                            <a:schemeClr val="lt1"/>
                          </a:solidFill>
                          <a:latin typeface="Syne"/>
                          <a:ea typeface="Syne"/>
                          <a:cs typeface="Syne"/>
                          <a:sym typeface="Syne"/>
                        </a:rPr>
                        <a:t>3</a:t>
                      </a:r>
                      <a:endParaRPr sz="1000"/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fr-FR" sz="1000" b="1" i="0" dirty="0">
                          <a:solidFill>
                            <a:schemeClr val="bg1"/>
                          </a:solidFill>
                          <a:effectLst/>
                          <a:latin typeface="Syne" panose="020B0604020202020204" charset="0"/>
                        </a:rPr>
                        <a:t>Développement du frontend (App / Backoffice)</a:t>
                      </a:r>
                      <a:endParaRPr sz="1000" b="1" dirty="0">
                        <a:solidFill>
                          <a:schemeClr val="bg1"/>
                        </a:solidFill>
                        <a:latin typeface="Syne" panose="020B0604020202020204" charset="0"/>
                        <a:ea typeface="Syne"/>
                        <a:cs typeface="Syne"/>
                        <a:sym typeface="Syne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6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 b="1">
                          <a:solidFill>
                            <a:schemeClr val="lt1"/>
                          </a:solidFill>
                          <a:latin typeface="Syne"/>
                          <a:ea typeface="Syne"/>
                          <a:cs typeface="Syne"/>
                          <a:sym typeface="Syne"/>
                        </a:rPr>
                        <a:t>4</a:t>
                      </a:r>
                      <a:endParaRPr sz="1000"/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fr-FR" sz="1000" b="1" i="0" dirty="0">
                          <a:solidFill>
                            <a:schemeClr val="bg1"/>
                          </a:solidFill>
                          <a:effectLst/>
                          <a:latin typeface="Syne" panose="020B0604020202020204" charset="0"/>
                        </a:rPr>
                        <a:t>Interfaçage du frontend est backend (App / Backoffice)</a:t>
                      </a:r>
                      <a:endParaRPr sz="1000" b="1" dirty="0">
                        <a:solidFill>
                          <a:schemeClr val="bg1"/>
                        </a:solidFill>
                        <a:latin typeface="Syne" panose="020B0604020202020204" charset="0"/>
                        <a:ea typeface="Syne"/>
                        <a:cs typeface="Syne"/>
                        <a:sym typeface="Syne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6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 b="1">
                          <a:solidFill>
                            <a:schemeClr val="lt1"/>
                          </a:solidFill>
                          <a:latin typeface="Syne"/>
                          <a:ea typeface="Syne"/>
                          <a:cs typeface="Syne"/>
                          <a:sym typeface="Syne"/>
                        </a:rPr>
                        <a:t>5</a:t>
                      </a:r>
                      <a:endParaRPr sz="1000"/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1" i="0" u="none" strike="noStrike" cap="none" dirty="0">
                          <a:solidFill>
                            <a:schemeClr val="bg1"/>
                          </a:solidFill>
                          <a:effectLst/>
                          <a:latin typeface="Syne" panose="020B0604020202020204" charset="0"/>
                          <a:ea typeface="Arial"/>
                          <a:cs typeface="Arial"/>
                          <a:sym typeface="Arial"/>
                        </a:rPr>
                        <a:t>Test et ajustements des</a:t>
                      </a:r>
                    </a:p>
                    <a:p>
                      <a:pPr algn="ctr"/>
                      <a:r>
                        <a:rPr lang="fr-FR" sz="1000" b="1" i="0" u="none" strike="noStrike" cap="none" dirty="0">
                          <a:solidFill>
                            <a:schemeClr val="bg1"/>
                          </a:solidFill>
                          <a:effectLst/>
                          <a:latin typeface="Syne" panose="020B0604020202020204" charset="0"/>
                          <a:ea typeface="Arial"/>
                          <a:cs typeface="Arial"/>
                          <a:sym typeface="Arial"/>
                        </a:rPr>
                        <a:t>fonctionnalités</a:t>
                      </a: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36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 b="1" dirty="0">
                          <a:solidFill>
                            <a:schemeClr val="lt1"/>
                          </a:solidFill>
                          <a:latin typeface="Syne"/>
                          <a:ea typeface="Syne"/>
                          <a:cs typeface="Syne"/>
                          <a:sym typeface="Syne"/>
                        </a:rPr>
                        <a:t>6</a:t>
                      </a:r>
                      <a:endParaRPr sz="1000" dirty="0"/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1" dirty="0">
                          <a:solidFill>
                            <a:schemeClr val="bg1"/>
                          </a:solidFill>
                          <a:latin typeface="Syne" panose="020B0604020202020204" charset="0"/>
                        </a:rPr>
                        <a:t>P</a:t>
                      </a:r>
                      <a:r>
                        <a:rPr lang="fr-FR" sz="1000" b="1">
                          <a:solidFill>
                            <a:schemeClr val="bg1"/>
                          </a:solidFill>
                          <a:latin typeface="Syne" panose="020B0604020202020204" charset="0"/>
                        </a:rPr>
                        <a:t>roduction </a:t>
                      </a:r>
                      <a:r>
                        <a:rPr lang="fr-FR" sz="1000" b="1" dirty="0">
                          <a:solidFill>
                            <a:schemeClr val="bg1"/>
                          </a:solidFill>
                          <a:latin typeface="Syne" panose="020B0604020202020204" charset="0"/>
                        </a:rPr>
                        <a:t>de la première version (V1)</a:t>
                      </a:r>
                      <a:r>
                        <a:rPr lang="fr-FR" sz="1000" dirty="0"/>
                        <a:t>.</a:t>
                      </a:r>
                      <a:endParaRPr lang="fr-FR" sz="1000" b="1" i="0" u="none" strike="noStrike" cap="none" dirty="0">
                        <a:solidFill>
                          <a:schemeClr val="bg1"/>
                        </a:solidFill>
                        <a:effectLst/>
                        <a:latin typeface="Syne" panose="020B0604020202020204" charset="0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0" name="Google Shape;100;p4"/>
          <p:cNvSpPr/>
          <p:nvPr/>
        </p:nvSpPr>
        <p:spPr>
          <a:xfrm>
            <a:off x="7551115" y="4248302"/>
            <a:ext cx="9000" cy="6189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4"/>
          <p:cNvSpPr/>
          <p:nvPr/>
        </p:nvSpPr>
        <p:spPr>
          <a:xfrm>
            <a:off x="9680753" y="4248302"/>
            <a:ext cx="9000" cy="618900"/>
          </a:xfrm>
          <a:prstGeom prst="rect">
            <a:avLst/>
          </a:prstGeom>
          <a:solidFill>
            <a:srgbClr val="FFFFFF">
              <a:alpha val="471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2" name="Google Shape;102;p4"/>
          <p:cNvGrpSpPr/>
          <p:nvPr/>
        </p:nvGrpSpPr>
        <p:grpSpPr>
          <a:xfrm>
            <a:off x="4225402" y="1080777"/>
            <a:ext cx="1005244" cy="4782598"/>
            <a:chOff x="9536799" y="1044208"/>
            <a:chExt cx="1005244" cy="4782598"/>
          </a:xfrm>
        </p:grpSpPr>
        <p:grpSp>
          <p:nvGrpSpPr>
            <p:cNvPr id="103" name="Google Shape;103;p4"/>
            <p:cNvGrpSpPr/>
            <p:nvPr/>
          </p:nvGrpSpPr>
          <p:grpSpPr>
            <a:xfrm>
              <a:off x="9536799" y="1044208"/>
              <a:ext cx="1005244" cy="258654"/>
              <a:chOff x="9536799" y="1044208"/>
              <a:chExt cx="1005244" cy="258654"/>
            </a:xfrm>
          </p:grpSpPr>
          <p:sp>
            <p:nvSpPr>
              <p:cNvPr id="104" name="Google Shape;104;p4"/>
              <p:cNvSpPr/>
              <p:nvPr/>
            </p:nvSpPr>
            <p:spPr>
              <a:xfrm>
                <a:off x="9536799" y="1044208"/>
                <a:ext cx="1005244" cy="258654"/>
              </a:xfrm>
              <a:prstGeom prst="roundRect">
                <a:avLst>
                  <a:gd name="adj" fmla="val 96154"/>
                </a:avLst>
              </a:prstGeom>
              <a:solidFill>
                <a:srgbClr val="EF4444"/>
              </a:solidFill>
              <a:ln w="12700" cap="flat" cmpd="sng">
                <a:solidFill>
                  <a:srgbClr val="FFFFFF">
                    <a:alpha val="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  <a:effectLst>
                <a:outerShdw blurRad="38100" dist="25400" dir="16200000" algn="bl" rotWithShape="0">
                  <a:srgbClr val="000000">
                    <a:alpha val="298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105" name="Google Shape;105;p4"/>
              <p:cNvSpPr txBox="1"/>
              <p:nvPr/>
            </p:nvSpPr>
            <p:spPr>
              <a:xfrm>
                <a:off x="9544005" y="1125653"/>
                <a:ext cx="966889" cy="10893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800"/>
                  <a:buFont typeface="Open Sans"/>
                  <a:buNone/>
                </a:pPr>
                <a:r>
                  <a:rPr lang="en-US" sz="800" b="1" i="0" u="none" strike="noStrike" cap="none" dirty="0">
                    <a:solidFill>
                      <a:srgbClr val="FFFFFF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NOUS SOMMES           ICI</a:t>
                </a:r>
                <a:endParaRPr sz="800" b="0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06" name="Google Shape;106;p4"/>
            <p:cNvSpPr/>
            <p:nvPr/>
          </p:nvSpPr>
          <p:spPr>
            <a:xfrm flipH="1">
              <a:off x="10008149" y="1373606"/>
              <a:ext cx="19200" cy="4453200"/>
            </a:xfrm>
            <a:prstGeom prst="rect">
              <a:avLst/>
            </a:prstGeom>
            <a:solidFill>
              <a:srgbClr val="EF4444"/>
            </a:solidFill>
            <a:ln w="12700" cap="flat" cmpd="sng">
              <a:solidFill>
                <a:srgbClr val="FFFFFF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76200" dist="12700" dir="16200000" algn="bl" rotWithShape="0">
                <a:srgbClr val="EF4444">
                  <a:alpha val="6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7" name="Google Shape;107;p4"/>
          <p:cNvGrpSpPr/>
          <p:nvPr/>
        </p:nvGrpSpPr>
        <p:grpSpPr>
          <a:xfrm>
            <a:off x="5059016" y="6221500"/>
            <a:ext cx="632132" cy="153150"/>
            <a:chOff x="4958350" y="6221500"/>
            <a:chExt cx="632132" cy="153150"/>
          </a:xfrm>
        </p:grpSpPr>
        <p:sp>
          <p:nvSpPr>
            <p:cNvPr id="108" name="Google Shape;108;p4"/>
            <p:cNvSpPr txBox="1"/>
            <p:nvPr/>
          </p:nvSpPr>
          <p:spPr>
            <a:xfrm>
              <a:off x="5159682" y="6221950"/>
              <a:ext cx="430800" cy="152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D1D5DB"/>
                </a:buClr>
                <a:buSzPts val="900"/>
                <a:buFont typeface="Open Sans"/>
                <a:buNone/>
              </a:pPr>
              <a:r>
                <a:rPr lang="en-US" sz="900" b="1" i="0" u="none" strike="noStrike" cap="none">
                  <a:solidFill>
                    <a:srgbClr val="D1D5DB"/>
                  </a:solidFill>
                  <a:latin typeface="Open Sans"/>
                  <a:ea typeface="Open Sans"/>
                  <a:cs typeface="Open Sans"/>
                  <a:sym typeface="Open Sans"/>
                </a:rPr>
                <a:t>Réalisé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9" name="Google Shape;109;p4"/>
            <p:cNvSpPr/>
            <p:nvPr/>
          </p:nvSpPr>
          <p:spPr>
            <a:xfrm>
              <a:off x="4958350" y="6221500"/>
              <a:ext cx="152700" cy="1527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0" name="Google Shape;110;p4"/>
          <p:cNvGrpSpPr/>
          <p:nvPr/>
        </p:nvGrpSpPr>
        <p:grpSpPr>
          <a:xfrm>
            <a:off x="6348700" y="6221950"/>
            <a:ext cx="651188" cy="152700"/>
            <a:chOff x="6348700" y="6221950"/>
            <a:chExt cx="651188" cy="152700"/>
          </a:xfrm>
        </p:grpSpPr>
        <p:sp>
          <p:nvSpPr>
            <p:cNvPr id="111" name="Google Shape;111;p4"/>
            <p:cNvSpPr txBox="1"/>
            <p:nvPr/>
          </p:nvSpPr>
          <p:spPr>
            <a:xfrm>
              <a:off x="6554088" y="6221950"/>
              <a:ext cx="445800" cy="152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D1D5DB"/>
                </a:buClr>
                <a:buSzPts val="900"/>
                <a:buFont typeface="Open Sans"/>
                <a:buNone/>
              </a:pPr>
              <a:r>
                <a:rPr lang="en-US" sz="900" b="1" i="0" u="none" strike="noStrike" cap="none">
                  <a:solidFill>
                    <a:srgbClr val="D1D5DB"/>
                  </a:solidFill>
                  <a:latin typeface="Open Sans"/>
                  <a:ea typeface="Open Sans"/>
                  <a:cs typeface="Open Sans"/>
                  <a:sym typeface="Open Sans"/>
                </a:rPr>
                <a:t>Planifié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" name="Google Shape;112;p4"/>
            <p:cNvSpPr/>
            <p:nvPr/>
          </p:nvSpPr>
          <p:spPr>
            <a:xfrm>
              <a:off x="6348700" y="6221950"/>
              <a:ext cx="152700" cy="152700"/>
            </a:xfrm>
            <a:prstGeom prst="ellipse">
              <a:avLst/>
            </a:prstGeom>
            <a:solidFill>
              <a:srgbClr val="9900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"/>
          <p:cNvSpPr/>
          <p:nvPr/>
        </p:nvSpPr>
        <p:spPr>
          <a:xfrm>
            <a:off x="9753905" y="961034"/>
            <a:ext cx="28346" cy="28346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5"/>
          <p:cNvSpPr/>
          <p:nvPr/>
        </p:nvSpPr>
        <p:spPr>
          <a:xfrm>
            <a:off x="1130065" y="2850575"/>
            <a:ext cx="9144" cy="9144"/>
          </a:xfrm>
          <a:prstGeom prst="ellipse">
            <a:avLst/>
          </a:prstGeom>
          <a:solidFill>
            <a:srgbClr val="FFFFFF">
              <a:alpha val="4000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5"/>
          <p:cNvSpPr/>
          <p:nvPr/>
        </p:nvSpPr>
        <p:spPr>
          <a:xfrm>
            <a:off x="10371890" y="3300988"/>
            <a:ext cx="19200" cy="19200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5"/>
          <p:cNvSpPr/>
          <p:nvPr/>
        </p:nvSpPr>
        <p:spPr>
          <a:xfrm>
            <a:off x="3666595" y="4582977"/>
            <a:ext cx="19200" cy="19200"/>
          </a:xfrm>
          <a:prstGeom prst="ellipse">
            <a:avLst/>
          </a:prstGeom>
          <a:solidFill>
            <a:srgbClr val="FFFFFF">
              <a:alpha val="69803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5"/>
          <p:cNvSpPr/>
          <p:nvPr/>
        </p:nvSpPr>
        <p:spPr>
          <a:xfrm>
            <a:off x="5397570" y="1889540"/>
            <a:ext cx="9144" cy="9144"/>
          </a:xfrm>
          <a:prstGeom prst="ellipse">
            <a:avLst/>
          </a:prstGeom>
          <a:solidFill>
            <a:srgbClr val="FFFFFF">
              <a:alpha val="29803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5"/>
          <p:cNvSpPr/>
          <p:nvPr/>
        </p:nvSpPr>
        <p:spPr>
          <a:xfrm>
            <a:off x="7324195" y="3941983"/>
            <a:ext cx="19200" cy="19200"/>
          </a:xfrm>
          <a:prstGeom prst="ellipse">
            <a:avLst/>
          </a:prstGeom>
          <a:solidFill>
            <a:srgbClr val="FFFFFF">
              <a:alpha val="49803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5"/>
          <p:cNvSpPr/>
          <p:nvPr/>
        </p:nvSpPr>
        <p:spPr>
          <a:xfrm>
            <a:off x="6096305" y="320040"/>
            <a:ext cx="9144" cy="9144"/>
          </a:xfrm>
          <a:prstGeom prst="ellipse">
            <a:avLst/>
          </a:prstGeom>
          <a:solidFill>
            <a:srgbClr val="FFFFFF">
              <a:alpha val="4000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5"/>
          <p:cNvSpPr/>
          <p:nvPr/>
        </p:nvSpPr>
        <p:spPr>
          <a:xfrm>
            <a:off x="11484725" y="2110438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5"/>
          <p:cNvSpPr/>
          <p:nvPr/>
        </p:nvSpPr>
        <p:spPr>
          <a:xfrm>
            <a:off x="6105300" y="2659994"/>
            <a:ext cx="9000" cy="9000"/>
          </a:xfrm>
          <a:prstGeom prst="ellipse">
            <a:avLst/>
          </a:prstGeom>
          <a:solidFill>
            <a:srgbClr val="FFFFFF">
              <a:alpha val="2000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5"/>
          <p:cNvSpPr/>
          <p:nvPr/>
        </p:nvSpPr>
        <p:spPr>
          <a:xfrm>
            <a:off x="7925105" y="769010"/>
            <a:ext cx="19202" cy="19202"/>
          </a:xfrm>
          <a:prstGeom prst="ellipse">
            <a:avLst/>
          </a:prstGeom>
          <a:solidFill>
            <a:srgbClr val="FFFFFF">
              <a:alpha val="49803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5"/>
          <p:cNvSpPr txBox="1"/>
          <p:nvPr/>
        </p:nvSpPr>
        <p:spPr>
          <a:xfrm>
            <a:off x="1237045" y="1702622"/>
            <a:ext cx="7143300" cy="2670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Syne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Fonctionnalité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5"/>
          <p:cNvSpPr txBox="1"/>
          <p:nvPr/>
        </p:nvSpPr>
        <p:spPr>
          <a:xfrm>
            <a:off x="8538520" y="1702622"/>
            <a:ext cx="2438700" cy="2670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Syne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Avancement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0" name="Google Shape;130;p5" descr="preencoded.png"/>
          <p:cNvPicPr preferRelativeResize="0"/>
          <p:nvPr/>
        </p:nvPicPr>
        <p:blipFill rotWithShape="1">
          <a:blip r:embed="rId3">
            <a:alphaModFix/>
          </a:blip>
          <a:srcRect t="-22" b="-21"/>
          <a:stretch/>
        </p:blipFill>
        <p:spPr>
          <a:xfrm>
            <a:off x="1227890" y="2312522"/>
            <a:ext cx="9753902" cy="972007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31" name="Google Shape;131;p5"/>
          <p:cNvSpPr/>
          <p:nvPr/>
        </p:nvSpPr>
        <p:spPr>
          <a:xfrm>
            <a:off x="8534861" y="2321666"/>
            <a:ext cx="9000" cy="952800"/>
          </a:xfrm>
          <a:prstGeom prst="roundRect">
            <a:avLst>
              <a:gd name="adj" fmla="val 1200000"/>
            </a:avLst>
          </a:prstGeom>
          <a:solidFill>
            <a:srgbClr val="FFFFFF">
              <a:alpha val="9803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5"/>
          <p:cNvSpPr/>
          <p:nvPr/>
        </p:nvSpPr>
        <p:spPr>
          <a:xfrm>
            <a:off x="1466549" y="2588671"/>
            <a:ext cx="256800" cy="304500"/>
          </a:xfrm>
          <a:prstGeom prst="roundRect">
            <a:avLst>
              <a:gd name="adj" fmla="val 355872"/>
            </a:avLst>
          </a:prstGeom>
          <a:solidFill>
            <a:srgbClr val="FFFFFF">
              <a:alpha val="9803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3" name="Google Shape;133;p5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25070" y="2674624"/>
            <a:ext cx="133502" cy="133502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5"/>
          <p:cNvSpPr txBox="1"/>
          <p:nvPr/>
        </p:nvSpPr>
        <p:spPr>
          <a:xfrm>
            <a:off x="1878949" y="2560326"/>
            <a:ext cx="6515100" cy="4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buClr>
                <a:srgbClr val="E5E7EB"/>
              </a:buClr>
              <a:buSzPts val="1200"/>
            </a:pPr>
            <a:r>
              <a:rPr lang="fr-FR" sz="1200" b="1" dirty="0">
                <a:solidFill>
                  <a:schemeClr val="bg1"/>
                </a:solidFill>
                <a:latin typeface="Syne" panose="020B0604020202020204" charset="0"/>
              </a:rPr>
              <a:t>Mettre en place les fondations techniques de la plateforme (architecture, frontend, backend, base de données)</a:t>
            </a:r>
            <a:endParaRPr sz="1200" b="1" i="0" u="none" strike="noStrike" cap="none" dirty="0">
              <a:solidFill>
                <a:schemeClr val="bg1"/>
              </a:solidFill>
              <a:latin typeface="Syne" panose="020B0604020202020204" charset="0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5"/>
          <p:cNvSpPr/>
          <p:nvPr/>
        </p:nvSpPr>
        <p:spPr>
          <a:xfrm>
            <a:off x="8538518" y="2321666"/>
            <a:ext cx="2438700" cy="952800"/>
          </a:xfrm>
          <a:prstGeom prst="roundRect">
            <a:avLst>
              <a:gd name="adj" fmla="val 11516"/>
            </a:avLst>
          </a:prstGeom>
          <a:solidFill>
            <a:srgbClr val="FFFFFF">
              <a:alpha val="4705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6" name="Google Shape;136;p5" descr="preencoded.png"/>
          <p:cNvPicPr preferRelativeResize="0"/>
          <p:nvPr/>
        </p:nvPicPr>
        <p:blipFill rotWithShape="1">
          <a:blip r:embed="rId5">
            <a:alphaModFix/>
          </a:blip>
          <a:srcRect l="-190" r="-189"/>
          <a:stretch/>
        </p:blipFill>
        <p:spPr>
          <a:xfrm>
            <a:off x="8767118" y="2969976"/>
            <a:ext cx="1976017" cy="758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5" descr="preencoded.png"/>
          <p:cNvPicPr preferRelativeResize="0"/>
          <p:nvPr/>
        </p:nvPicPr>
        <p:blipFill rotWithShape="1">
          <a:blip r:embed="rId6">
            <a:alphaModFix/>
          </a:blip>
          <a:srcRect l="-190" r="-189"/>
          <a:stretch/>
        </p:blipFill>
        <p:spPr>
          <a:xfrm>
            <a:off x="8767118" y="2969976"/>
            <a:ext cx="1976017" cy="758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5" descr="preencoded.png"/>
          <p:cNvPicPr preferRelativeResize="0"/>
          <p:nvPr/>
        </p:nvPicPr>
        <p:blipFill rotWithShape="1">
          <a:blip r:embed="rId3">
            <a:alphaModFix/>
          </a:blip>
          <a:srcRect t="-22" b="-21"/>
          <a:stretch/>
        </p:blipFill>
        <p:spPr>
          <a:xfrm>
            <a:off x="1227890" y="3474724"/>
            <a:ext cx="9753902" cy="972007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39" name="Google Shape;139;p5"/>
          <p:cNvSpPr/>
          <p:nvPr/>
        </p:nvSpPr>
        <p:spPr>
          <a:xfrm>
            <a:off x="8534861" y="3483868"/>
            <a:ext cx="9000" cy="952800"/>
          </a:xfrm>
          <a:prstGeom prst="roundRect">
            <a:avLst>
              <a:gd name="adj" fmla="val 1200000"/>
            </a:avLst>
          </a:prstGeom>
          <a:solidFill>
            <a:srgbClr val="FFFFFF">
              <a:alpha val="9803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" name="Google Shape;140;p5"/>
          <p:cNvSpPr/>
          <p:nvPr/>
        </p:nvSpPr>
        <p:spPr>
          <a:xfrm>
            <a:off x="1466549" y="3750873"/>
            <a:ext cx="200400" cy="304500"/>
          </a:xfrm>
          <a:prstGeom prst="roundRect">
            <a:avLst>
              <a:gd name="adj" fmla="val 456620"/>
            </a:avLst>
          </a:prstGeom>
          <a:solidFill>
            <a:srgbClr val="FFFFFF">
              <a:alpha val="9803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41" name="Google Shape;141;p5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498553" y="3836827"/>
            <a:ext cx="133502" cy="133502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5"/>
          <p:cNvSpPr txBox="1"/>
          <p:nvPr/>
        </p:nvSpPr>
        <p:spPr>
          <a:xfrm>
            <a:off x="1816764" y="3712468"/>
            <a:ext cx="6563700" cy="4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buClr>
                <a:srgbClr val="E5E7EB"/>
              </a:buClr>
              <a:buSzPts val="1200"/>
            </a:pPr>
            <a:r>
              <a:rPr lang="fr-FR" sz="1200" b="1" dirty="0">
                <a:solidFill>
                  <a:schemeClr val="bg1"/>
                </a:solidFill>
                <a:latin typeface="Syne" panose="020B0604020202020204" charset="0"/>
              </a:rPr>
              <a:t>Structurer les modules métiers et les intégrations clés en préparation des fonctionnalités </a:t>
            </a:r>
            <a:r>
              <a:rPr lang="fr-FR" sz="1200" b="1" dirty="0" err="1">
                <a:solidFill>
                  <a:schemeClr val="bg1"/>
                </a:solidFill>
                <a:latin typeface="Syne" panose="020B0604020202020204" charset="0"/>
              </a:rPr>
              <a:t>Renford</a:t>
            </a:r>
            <a:endParaRPr sz="1200" b="1" i="0" u="none" strike="noStrike" cap="none" dirty="0">
              <a:solidFill>
                <a:schemeClr val="bg1"/>
              </a:solidFill>
              <a:latin typeface="Syne" panose="020B0604020202020204" charset="0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5"/>
          <p:cNvSpPr/>
          <p:nvPr/>
        </p:nvSpPr>
        <p:spPr>
          <a:xfrm>
            <a:off x="8538518" y="3483868"/>
            <a:ext cx="2438700" cy="952800"/>
          </a:xfrm>
          <a:prstGeom prst="roundRect">
            <a:avLst>
              <a:gd name="adj" fmla="val 11516"/>
            </a:avLst>
          </a:prstGeom>
          <a:solidFill>
            <a:srgbClr val="FFFFFF">
              <a:alpha val="4705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44" name="Google Shape;144;p5" descr="preencoded.png"/>
          <p:cNvPicPr preferRelativeResize="0"/>
          <p:nvPr/>
        </p:nvPicPr>
        <p:blipFill rotWithShape="1">
          <a:blip r:embed="rId5">
            <a:alphaModFix/>
          </a:blip>
          <a:srcRect l="-190" r="-189"/>
          <a:stretch/>
        </p:blipFill>
        <p:spPr>
          <a:xfrm>
            <a:off x="8767118" y="4132178"/>
            <a:ext cx="1976017" cy="758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5" descr="preencoded.png"/>
          <p:cNvPicPr preferRelativeResize="0"/>
          <p:nvPr/>
        </p:nvPicPr>
        <p:blipFill rotWithShape="1">
          <a:blip r:embed="rId6">
            <a:alphaModFix/>
          </a:blip>
          <a:srcRect l="-190" r="-189"/>
          <a:stretch/>
        </p:blipFill>
        <p:spPr>
          <a:xfrm>
            <a:off x="8767118" y="4132178"/>
            <a:ext cx="1976017" cy="75895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5"/>
          <p:cNvSpPr txBox="1"/>
          <p:nvPr/>
        </p:nvSpPr>
        <p:spPr>
          <a:xfrm>
            <a:off x="9353249" y="2550266"/>
            <a:ext cx="886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Syne"/>
              <a:buNone/>
            </a:pPr>
            <a:r>
              <a:rPr lang="en-US" sz="2200" b="1" i="0" u="none" strike="noStrike" cap="none" dirty="0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100%</a:t>
            </a:r>
            <a:endParaRPr sz="2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5"/>
          <p:cNvSpPr txBox="1"/>
          <p:nvPr/>
        </p:nvSpPr>
        <p:spPr>
          <a:xfrm>
            <a:off x="9353249" y="3712468"/>
            <a:ext cx="886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Syne"/>
              <a:buNone/>
            </a:pPr>
            <a:r>
              <a:rPr lang="en-US" sz="2200" b="1" i="0" u="none" strike="noStrike" cap="none" dirty="0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100%</a:t>
            </a:r>
            <a:endParaRPr sz="2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5"/>
          <p:cNvSpPr txBox="1"/>
          <p:nvPr/>
        </p:nvSpPr>
        <p:spPr>
          <a:xfrm>
            <a:off x="2256451" y="428852"/>
            <a:ext cx="75258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Syne"/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 État </a:t>
            </a:r>
            <a:r>
              <a:rPr lang="en-US" sz="3600" b="1" i="0" u="none" strike="noStrike" cap="none" dirty="0" err="1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d'Avancement</a:t>
            </a:r>
            <a:r>
              <a:rPr lang="en-US" sz="3600" b="1" i="0" u="none" strike="noStrike" cap="none" dirty="0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 Global</a:t>
            </a:r>
            <a:endParaRPr sz="3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5"/>
          <p:cNvSpPr/>
          <p:nvPr/>
        </p:nvSpPr>
        <p:spPr>
          <a:xfrm>
            <a:off x="1228045" y="4888378"/>
            <a:ext cx="9000" cy="9000"/>
          </a:xfrm>
          <a:prstGeom prst="ellipse">
            <a:avLst/>
          </a:prstGeom>
          <a:solidFill>
            <a:srgbClr val="FFFFFF">
              <a:alpha val="4000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5"/>
          <p:cNvSpPr/>
          <p:nvPr/>
        </p:nvSpPr>
        <p:spPr>
          <a:xfrm>
            <a:off x="3764575" y="6620780"/>
            <a:ext cx="19200" cy="19200"/>
          </a:xfrm>
          <a:prstGeom prst="ellipse">
            <a:avLst/>
          </a:prstGeom>
          <a:solidFill>
            <a:srgbClr val="FFFFFF">
              <a:alpha val="6980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6"/>
          <p:cNvSpPr/>
          <p:nvPr/>
        </p:nvSpPr>
        <p:spPr>
          <a:xfrm>
            <a:off x="2438705" y="748894"/>
            <a:ext cx="19202" cy="19202"/>
          </a:xfrm>
          <a:prstGeom prst="ellipse">
            <a:avLst/>
          </a:prstGeom>
          <a:solidFill>
            <a:srgbClr val="FFFFFF">
              <a:alpha val="49803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6"/>
          <p:cNvSpPr/>
          <p:nvPr/>
        </p:nvSpPr>
        <p:spPr>
          <a:xfrm>
            <a:off x="9755730" y="608058"/>
            <a:ext cx="28200" cy="28200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6"/>
          <p:cNvSpPr/>
          <p:nvPr/>
        </p:nvSpPr>
        <p:spPr>
          <a:xfrm>
            <a:off x="10364720" y="3976708"/>
            <a:ext cx="19200" cy="19200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6"/>
          <p:cNvSpPr/>
          <p:nvPr/>
        </p:nvSpPr>
        <p:spPr>
          <a:xfrm>
            <a:off x="5488225" y="1356952"/>
            <a:ext cx="9000" cy="9000"/>
          </a:xfrm>
          <a:prstGeom prst="ellipse">
            <a:avLst/>
          </a:prstGeom>
          <a:solidFill>
            <a:srgbClr val="FFFFFF">
              <a:alpha val="29803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6"/>
          <p:cNvSpPr/>
          <p:nvPr/>
        </p:nvSpPr>
        <p:spPr>
          <a:xfrm>
            <a:off x="6096305" y="373990"/>
            <a:ext cx="9144" cy="9144"/>
          </a:xfrm>
          <a:prstGeom prst="ellipse">
            <a:avLst/>
          </a:prstGeom>
          <a:solidFill>
            <a:srgbClr val="FFFFFF">
              <a:alpha val="4000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6"/>
          <p:cNvSpPr/>
          <p:nvPr/>
        </p:nvSpPr>
        <p:spPr>
          <a:xfrm>
            <a:off x="11582705" y="2620670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6"/>
          <p:cNvSpPr/>
          <p:nvPr/>
        </p:nvSpPr>
        <p:spPr>
          <a:xfrm>
            <a:off x="7926930" y="383116"/>
            <a:ext cx="19200" cy="19200"/>
          </a:xfrm>
          <a:prstGeom prst="ellipse">
            <a:avLst/>
          </a:prstGeom>
          <a:solidFill>
            <a:srgbClr val="FFFFFF">
              <a:alpha val="49803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6"/>
          <p:cNvSpPr txBox="1"/>
          <p:nvPr/>
        </p:nvSpPr>
        <p:spPr>
          <a:xfrm>
            <a:off x="383130" y="552280"/>
            <a:ext cx="8725200" cy="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Syne"/>
              <a:buNone/>
            </a:pPr>
            <a:r>
              <a:rPr lang="en-US" sz="2700" b="1" i="0" u="none" strike="noStrike" cap="non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 Progrès réalisés cette semaine : 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6" name="Google Shape;186;p6" descr="preencoded.png"/>
          <p:cNvPicPr preferRelativeResize="0"/>
          <p:nvPr/>
        </p:nvPicPr>
        <p:blipFill rotWithShape="1">
          <a:blip r:embed="rId3">
            <a:alphaModFix/>
          </a:blip>
          <a:srcRect l="-2122" r="-2121"/>
          <a:stretch/>
        </p:blipFill>
        <p:spPr>
          <a:xfrm>
            <a:off x="9069015" y="761677"/>
            <a:ext cx="445313" cy="914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7" name="Google Shape;187;p6"/>
          <p:cNvGrpSpPr/>
          <p:nvPr/>
        </p:nvGrpSpPr>
        <p:grpSpPr>
          <a:xfrm>
            <a:off x="9666119" y="604401"/>
            <a:ext cx="2152500" cy="324600"/>
            <a:chOff x="9666119" y="604401"/>
            <a:chExt cx="2152500" cy="324600"/>
          </a:xfrm>
        </p:grpSpPr>
        <p:sp>
          <p:nvSpPr>
            <p:cNvPr id="188" name="Google Shape;188;p6"/>
            <p:cNvSpPr/>
            <p:nvPr/>
          </p:nvSpPr>
          <p:spPr>
            <a:xfrm>
              <a:off x="9666119" y="604401"/>
              <a:ext cx="2152500" cy="323700"/>
            </a:xfrm>
            <a:prstGeom prst="roundRect">
              <a:avLst>
                <a:gd name="adj" fmla="val 282486"/>
              </a:avLst>
            </a:prstGeom>
            <a:noFill/>
            <a:ln w="12700" cap="flat" cmpd="sng">
              <a:solidFill>
                <a:srgbClr val="E5E7EB">
                  <a:alpha val="29803"/>
                </a:srgb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89" name="Google Shape;189;p6" descr="preencoded.png"/>
            <p:cNvPicPr preferRelativeResize="0"/>
            <p:nvPr/>
          </p:nvPicPr>
          <p:blipFill rotWithShape="1">
            <a:blip r:embed="rId4">
              <a:alphaModFix/>
            </a:blip>
            <a:srcRect l="-2571" r="-2570"/>
            <a:stretch/>
          </p:blipFill>
          <p:spPr>
            <a:xfrm>
              <a:off x="9790477" y="709557"/>
              <a:ext cx="105156" cy="1143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90" name="Google Shape;190;p6"/>
            <p:cNvSpPr txBox="1"/>
            <p:nvPr/>
          </p:nvSpPr>
          <p:spPr>
            <a:xfrm>
              <a:off x="9971528" y="604401"/>
              <a:ext cx="1793100" cy="324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0"/>
                <a:buFont typeface="Open Sans"/>
                <a:buNone/>
              </a:pPr>
              <a:r>
                <a:rPr lang="en-US" sz="1200" b="1" i="0" u="none" strike="noStrike" cap="none"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</a:rPr>
                <a:t>Tâches complétées</a:t>
              </a: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1" name="Google Shape;191;p6"/>
          <p:cNvSpPr/>
          <p:nvPr/>
        </p:nvSpPr>
        <p:spPr>
          <a:xfrm>
            <a:off x="534300" y="1142478"/>
            <a:ext cx="11123400" cy="5410200"/>
          </a:xfrm>
          <a:prstGeom prst="roundRect">
            <a:avLst>
              <a:gd name="adj" fmla="val 16667"/>
            </a:avLst>
          </a:prstGeom>
          <a:solidFill>
            <a:srgbClr val="000000">
              <a:alpha val="20000"/>
            </a:srgb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Syne"/>
              <a:ea typeface="Syne"/>
              <a:cs typeface="Syne"/>
              <a:sym typeface="Syne"/>
            </a:endParaRPr>
          </a:p>
        </p:txBody>
      </p:sp>
      <p:sp>
        <p:nvSpPr>
          <p:cNvPr id="192" name="Google Shape;192;p6"/>
          <p:cNvSpPr txBox="1"/>
          <p:nvPr/>
        </p:nvSpPr>
        <p:spPr>
          <a:xfrm>
            <a:off x="861836" y="1403774"/>
            <a:ext cx="5301370" cy="4251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  <a:t>✅ Définir l’architecture technique globale avec séparation frontend / backend</a:t>
            </a:r>
            <a:b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</a:br>
            <a:b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</a:br>
            <a: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  <a:t>✅ Mettre en place une architecture API REST modulaire côté backend</a:t>
            </a:r>
            <a:b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</a:br>
            <a:endParaRPr lang="fr-FR" sz="1100" b="1" dirty="0">
              <a:solidFill>
                <a:schemeClr val="bg1"/>
              </a:solidFill>
              <a:latin typeface="Syne" panose="020B0604020202020204" charset="0"/>
            </a:endParaRPr>
          </a:p>
          <a:p>
            <a: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  <a:t>✅ Initialiser l’application web frontend avec Next.js et </a:t>
            </a:r>
            <a:r>
              <a:rPr lang="fr-FR" sz="1100" b="1" dirty="0" err="1">
                <a:solidFill>
                  <a:schemeClr val="bg1"/>
                </a:solidFill>
                <a:latin typeface="Syne" panose="020B0604020202020204" charset="0"/>
              </a:rPr>
              <a:t>TypeScript</a:t>
            </a:r>
            <a:b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</a:br>
            <a:b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</a:br>
            <a: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  <a:t>✅ Configurer la gestion d’état côté frontend avec </a:t>
            </a:r>
            <a:r>
              <a:rPr lang="fr-FR" sz="1100" b="1" dirty="0" err="1">
                <a:solidFill>
                  <a:schemeClr val="bg1"/>
                </a:solidFill>
                <a:latin typeface="Syne" panose="020B0604020202020204" charset="0"/>
              </a:rPr>
              <a:t>Zustand</a:t>
            </a:r>
            <a:b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</a:br>
            <a:b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</a:br>
            <a: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  <a:t>✅ Mettre en place la gestion des formulaires avec React Hook </a:t>
            </a:r>
            <a:r>
              <a:rPr lang="fr-FR" sz="1100" b="1" dirty="0" err="1">
                <a:solidFill>
                  <a:schemeClr val="bg1"/>
                </a:solidFill>
                <a:latin typeface="Syne" panose="020B0604020202020204" charset="0"/>
              </a:rPr>
              <a:t>Form</a:t>
            </a:r>
            <a: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  <a:t> et </a:t>
            </a:r>
            <a:r>
              <a:rPr lang="fr-FR" sz="1100" b="1" dirty="0" err="1">
                <a:solidFill>
                  <a:schemeClr val="bg1"/>
                </a:solidFill>
                <a:latin typeface="Syne" panose="020B0604020202020204" charset="0"/>
              </a:rPr>
              <a:t>Zod</a:t>
            </a:r>
            <a:b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</a:br>
            <a:b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</a:br>
            <a: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  <a:t>✅ Configurer le design system et le thème UI avec </a:t>
            </a:r>
            <a:r>
              <a:rPr lang="fr-FR" sz="1100" b="1" dirty="0" err="1">
                <a:solidFill>
                  <a:schemeClr val="bg1"/>
                </a:solidFill>
                <a:latin typeface="Syne" panose="020B0604020202020204" charset="0"/>
              </a:rPr>
              <a:t>shadcn</a:t>
            </a:r>
            <a: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  <a:t>/</a:t>
            </a:r>
            <a:r>
              <a:rPr lang="fr-FR" sz="1100" b="1" dirty="0" err="1">
                <a:solidFill>
                  <a:schemeClr val="bg1"/>
                </a:solidFill>
                <a:latin typeface="Syne" panose="020B0604020202020204" charset="0"/>
              </a:rPr>
              <a:t>ui</a:t>
            </a:r>
            <a: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  <a:t> et </a:t>
            </a:r>
            <a:r>
              <a:rPr lang="fr-FR" sz="1100" b="1" dirty="0" err="1">
                <a:solidFill>
                  <a:schemeClr val="bg1"/>
                </a:solidFill>
                <a:latin typeface="Syne" panose="020B0604020202020204" charset="0"/>
              </a:rPr>
              <a:t>TailwindCSS</a:t>
            </a:r>
            <a:b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</a:br>
            <a:endParaRPr lang="fr-FR" sz="1100" b="1" dirty="0">
              <a:solidFill>
                <a:schemeClr val="bg1"/>
              </a:solidFill>
              <a:latin typeface="Syne" panose="020B0604020202020204" charset="0"/>
            </a:endParaRPr>
          </a:p>
          <a:p>
            <a: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  <a:t>✅ Initialiser le backend avec Express.js et </a:t>
            </a:r>
            <a:r>
              <a:rPr lang="fr-FR" sz="1100" b="1" dirty="0" err="1">
                <a:solidFill>
                  <a:schemeClr val="bg1"/>
                </a:solidFill>
                <a:latin typeface="Syne" panose="020B0604020202020204" charset="0"/>
              </a:rPr>
              <a:t>TypeScript</a:t>
            </a:r>
            <a:b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</a:br>
            <a:b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</a:br>
            <a: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  <a:t>✅ Mettre en place la structure modulaire des modules backend (</a:t>
            </a:r>
            <a:r>
              <a:rPr lang="fr-FR" sz="1100" b="1" dirty="0" err="1">
                <a:solidFill>
                  <a:schemeClr val="bg1"/>
                </a:solidFill>
                <a:latin typeface="Syne" panose="020B0604020202020204" charset="0"/>
              </a:rPr>
              <a:t>controller</a:t>
            </a:r>
            <a: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  <a:t>, route, </a:t>
            </a:r>
            <a:r>
              <a:rPr lang="fr-FR" sz="1100" b="1" dirty="0" err="1">
                <a:solidFill>
                  <a:schemeClr val="bg1"/>
                </a:solidFill>
                <a:latin typeface="Syne" panose="020B0604020202020204" charset="0"/>
              </a:rPr>
              <a:t>schema</a:t>
            </a:r>
            <a: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  <a:t>, types)</a:t>
            </a:r>
            <a:b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</a:br>
            <a:endParaRPr lang="fr-FR" sz="1100" b="1" dirty="0">
              <a:solidFill>
                <a:schemeClr val="bg1"/>
              </a:solidFill>
              <a:latin typeface="Syne" panose="020B0604020202020204" charset="0"/>
            </a:endParaRPr>
          </a:p>
          <a:p>
            <a: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  <a:t>✅ Définir et structurer le module Auth (authentification, inscription, sessions)</a:t>
            </a:r>
            <a:b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</a:br>
            <a:b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</a:br>
            <a: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  <a:t>✅ Mettre en place la base du module </a:t>
            </a:r>
            <a:r>
              <a:rPr lang="fr-FR" sz="1100" b="1" dirty="0" err="1">
                <a:solidFill>
                  <a:schemeClr val="bg1"/>
                </a:solidFill>
                <a:latin typeface="Syne" panose="020B0604020202020204" charset="0"/>
              </a:rPr>
              <a:t>Onboarding</a:t>
            </a:r>
            <a: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  <a:t> et le parcours d’inscription multi-étapes</a:t>
            </a:r>
            <a:b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</a:br>
            <a:b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</a:br>
            <a: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  <a:t>✅ Mettre en place l’environnement de développement local avec Docker</a:t>
            </a:r>
          </a:p>
          <a:p>
            <a:pPr marL="139700" lvl="0">
              <a:buClr>
                <a:schemeClr val="lt1"/>
              </a:buClr>
              <a:buSzPts val="1400"/>
            </a:pPr>
            <a:endParaRPr sz="1100" b="1" dirty="0">
              <a:solidFill>
                <a:schemeClr val="bg1"/>
              </a:solidFill>
              <a:latin typeface="Syne" panose="020B0604020202020204" charset="0"/>
              <a:ea typeface="Syne"/>
              <a:cs typeface="Syne"/>
              <a:sym typeface="Syne"/>
            </a:endParaRPr>
          </a:p>
        </p:txBody>
      </p:sp>
      <p:sp>
        <p:nvSpPr>
          <p:cNvPr id="193" name="Google Shape;193;p6"/>
          <p:cNvSpPr txBox="1"/>
          <p:nvPr/>
        </p:nvSpPr>
        <p:spPr>
          <a:xfrm>
            <a:off x="6124649" y="1419150"/>
            <a:ext cx="5167111" cy="5036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  <a:t>✅ Structurer le module Utilisateur pour la gestion des profils cross-rôles</a:t>
            </a:r>
            <a:b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</a:br>
            <a:b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</a:br>
            <a: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  <a:t>✅ Définir l’architecture des modules Établissement et </a:t>
            </a:r>
            <a:r>
              <a:rPr lang="fr-FR" sz="1100" b="1" dirty="0" err="1">
                <a:solidFill>
                  <a:schemeClr val="bg1"/>
                </a:solidFill>
                <a:latin typeface="Syne" panose="020B0604020202020204" charset="0"/>
              </a:rPr>
              <a:t>Renford</a:t>
            </a:r>
            <a: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  <a:t> </a:t>
            </a:r>
            <a:b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</a:br>
            <a:b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</a:br>
            <a: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  <a:t>✅ Mettre en place la structure du module Mission (FLEX / COACH)</a:t>
            </a:r>
            <a:b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</a:br>
            <a:endParaRPr lang="fr-FR" sz="1100" b="1" dirty="0">
              <a:solidFill>
                <a:schemeClr val="bg1"/>
              </a:solidFill>
              <a:latin typeface="Syne" panose="020B0604020202020204" charset="0"/>
            </a:endParaRPr>
          </a:p>
          <a:p>
            <a: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  <a:t>✅ Définir et structurer le module </a:t>
            </a:r>
            <a:r>
              <a:rPr lang="fr-FR" sz="1100" b="1" dirty="0" err="1">
                <a:solidFill>
                  <a:schemeClr val="bg1"/>
                </a:solidFill>
                <a:latin typeface="Syne" panose="020B0604020202020204" charset="0"/>
              </a:rPr>
              <a:t>Uploads</a:t>
            </a:r>
            <a: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  <a:t> pour la gestion des fichiers</a:t>
            </a:r>
            <a:b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</a:br>
            <a:b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</a:br>
            <a: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  <a:t>✅ Mettre en place la base du module Document pour la gestion des documents légaux</a:t>
            </a:r>
            <a:b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</a:br>
            <a:b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</a:br>
            <a: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  <a:t>✅ Définir l’architecture du module Paiement avec intégration </a:t>
            </a:r>
            <a:r>
              <a:rPr lang="fr-FR" sz="1100" b="1" dirty="0" err="1">
                <a:solidFill>
                  <a:schemeClr val="bg1"/>
                </a:solidFill>
                <a:latin typeface="Syne" panose="020B0604020202020204" charset="0"/>
              </a:rPr>
              <a:t>Stripe</a:t>
            </a:r>
            <a: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  <a:t> </a:t>
            </a:r>
            <a:r>
              <a:rPr lang="fr-FR" sz="1100" b="1" dirty="0" err="1">
                <a:solidFill>
                  <a:schemeClr val="bg1"/>
                </a:solidFill>
                <a:latin typeface="Syne" panose="020B0604020202020204" charset="0"/>
              </a:rPr>
              <a:t>Connect</a:t>
            </a:r>
            <a:b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</a:br>
            <a:b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</a:br>
            <a: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  <a:t>✅ Structurer les modules Évaluation et Notification</a:t>
            </a:r>
            <a:b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</a:br>
            <a:endParaRPr lang="fr-FR" sz="1100" b="1" dirty="0">
              <a:solidFill>
                <a:schemeClr val="bg1"/>
              </a:solidFill>
              <a:latin typeface="Syne" panose="020B0604020202020204" charset="0"/>
            </a:endParaRPr>
          </a:p>
          <a:p>
            <a: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  <a:t>✅ Modéliser la première version de la base de données PostgreSQL avec Prisma</a:t>
            </a:r>
            <a:b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</a:br>
            <a:b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</a:br>
            <a: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  <a:t>✅ Configurer Redis pour les usages de cache et de traitements asynchrones</a:t>
            </a:r>
            <a:b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</a:br>
            <a:b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</a:br>
            <a:r>
              <a:rPr lang="fr-FR" sz="1100" b="1" dirty="0">
                <a:solidFill>
                  <a:schemeClr val="bg1"/>
                </a:solidFill>
                <a:latin typeface="Syne" panose="020B0604020202020204" charset="0"/>
              </a:rPr>
              <a:t>✅ Configurer la connexion entre le frontend et l’API backend</a:t>
            </a:r>
          </a:p>
          <a:p>
            <a:pPr marL="139700" lvl="0">
              <a:buClr>
                <a:schemeClr val="lt1"/>
              </a:buClr>
              <a:buSzPts val="1400"/>
            </a:pPr>
            <a:endParaRPr sz="1100" b="1" dirty="0">
              <a:solidFill>
                <a:schemeClr val="bg1"/>
              </a:solidFill>
              <a:latin typeface="Syne" panose="020B0604020202020204" charset="0"/>
              <a:ea typeface="Syne"/>
              <a:cs typeface="Syne"/>
              <a:sym typeface="Syne"/>
            </a:endParaRPr>
          </a:p>
        </p:txBody>
      </p:sp>
      <p:sp>
        <p:nvSpPr>
          <p:cNvPr id="194" name="Google Shape;194;p6"/>
          <p:cNvSpPr/>
          <p:nvPr/>
        </p:nvSpPr>
        <p:spPr>
          <a:xfrm flipH="1">
            <a:off x="6086400" y="1419155"/>
            <a:ext cx="19200" cy="44532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12700" dir="16200000" algn="bl" rotWithShape="0">
              <a:srgbClr val="EF4444">
                <a:alpha val="6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8"/>
          <p:cNvSpPr/>
          <p:nvPr/>
        </p:nvSpPr>
        <p:spPr>
          <a:xfrm>
            <a:off x="2413655" y="2182674"/>
            <a:ext cx="19200" cy="19200"/>
          </a:xfrm>
          <a:prstGeom prst="ellipse">
            <a:avLst/>
          </a:prstGeom>
          <a:solidFill>
            <a:srgbClr val="FFFFFF">
              <a:alpha val="4980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8"/>
          <p:cNvSpPr/>
          <p:nvPr/>
        </p:nvSpPr>
        <p:spPr>
          <a:xfrm>
            <a:off x="9728855" y="2378355"/>
            <a:ext cx="28200" cy="28200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8"/>
          <p:cNvSpPr/>
          <p:nvPr/>
        </p:nvSpPr>
        <p:spPr>
          <a:xfrm>
            <a:off x="1193845" y="3354020"/>
            <a:ext cx="9000" cy="9000"/>
          </a:xfrm>
          <a:prstGeom prst="ellipse">
            <a:avLst/>
          </a:prstGeom>
          <a:solidFill>
            <a:srgbClr val="FFFFFF">
              <a:alpha val="4000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p8"/>
          <p:cNvSpPr/>
          <p:nvPr/>
        </p:nvSpPr>
        <p:spPr>
          <a:xfrm>
            <a:off x="10337845" y="4135832"/>
            <a:ext cx="19200" cy="19200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8"/>
          <p:cNvSpPr/>
          <p:nvPr/>
        </p:nvSpPr>
        <p:spPr>
          <a:xfrm>
            <a:off x="3632550" y="4916730"/>
            <a:ext cx="19200" cy="19200"/>
          </a:xfrm>
          <a:prstGeom prst="ellipse">
            <a:avLst/>
          </a:prstGeom>
          <a:solidFill>
            <a:srgbClr val="FFFFFF">
              <a:alpha val="6980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8"/>
          <p:cNvSpPr/>
          <p:nvPr/>
        </p:nvSpPr>
        <p:spPr>
          <a:xfrm>
            <a:off x="5461350" y="2768804"/>
            <a:ext cx="9000" cy="9000"/>
          </a:xfrm>
          <a:prstGeom prst="ellipse">
            <a:avLst/>
          </a:prstGeom>
          <a:solidFill>
            <a:srgbClr val="FFFFFF">
              <a:alpha val="2980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3" name="Google Shape;253;p8"/>
          <p:cNvSpPr/>
          <p:nvPr/>
        </p:nvSpPr>
        <p:spPr>
          <a:xfrm>
            <a:off x="7290150" y="4526281"/>
            <a:ext cx="19200" cy="19200"/>
          </a:xfrm>
          <a:prstGeom prst="ellipse">
            <a:avLst/>
          </a:prstGeom>
          <a:solidFill>
            <a:srgbClr val="FFFFFF">
              <a:alpha val="4980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8"/>
          <p:cNvSpPr/>
          <p:nvPr/>
        </p:nvSpPr>
        <p:spPr>
          <a:xfrm>
            <a:off x="6096305" y="195682"/>
            <a:ext cx="9000" cy="9000"/>
          </a:xfrm>
          <a:prstGeom prst="ellipse">
            <a:avLst/>
          </a:prstGeom>
          <a:solidFill>
            <a:srgbClr val="FFFFFF">
              <a:alpha val="4000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8"/>
          <p:cNvSpPr/>
          <p:nvPr/>
        </p:nvSpPr>
        <p:spPr>
          <a:xfrm>
            <a:off x="1193845" y="5307179"/>
            <a:ext cx="28200" cy="28200"/>
          </a:xfrm>
          <a:prstGeom prst="ellipse">
            <a:avLst/>
          </a:prstGeom>
          <a:solidFill>
            <a:srgbClr val="FFFFFF">
              <a:alpha val="8980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8"/>
          <p:cNvSpPr/>
          <p:nvPr/>
        </p:nvSpPr>
        <p:spPr>
          <a:xfrm>
            <a:off x="11557655" y="3159253"/>
            <a:ext cx="19200" cy="19200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p8"/>
          <p:cNvSpPr/>
          <p:nvPr/>
        </p:nvSpPr>
        <p:spPr>
          <a:xfrm>
            <a:off x="6071255" y="3744469"/>
            <a:ext cx="9000" cy="9000"/>
          </a:xfrm>
          <a:prstGeom prst="ellipse">
            <a:avLst/>
          </a:prstGeom>
          <a:solidFill>
            <a:srgbClr val="FFFFFF">
              <a:alpha val="2000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p8"/>
          <p:cNvSpPr/>
          <p:nvPr/>
        </p:nvSpPr>
        <p:spPr>
          <a:xfrm>
            <a:off x="7900055" y="2260398"/>
            <a:ext cx="19200" cy="19200"/>
          </a:xfrm>
          <a:prstGeom prst="ellipse">
            <a:avLst/>
          </a:prstGeom>
          <a:solidFill>
            <a:srgbClr val="FFFFFF">
              <a:alpha val="4980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59" name="Google Shape;259;p8" descr="preencoded.png"/>
          <p:cNvPicPr preferRelativeResize="0"/>
          <p:nvPr/>
        </p:nvPicPr>
        <p:blipFill rotWithShape="1">
          <a:blip r:embed="rId3">
            <a:alphaModFix amt="8000"/>
          </a:blip>
          <a:srcRect/>
          <a:stretch/>
        </p:blipFill>
        <p:spPr>
          <a:xfrm>
            <a:off x="2260950" y="-64921"/>
            <a:ext cx="7619696" cy="761969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8"/>
          <p:cNvSpPr/>
          <p:nvPr/>
        </p:nvSpPr>
        <p:spPr>
          <a:xfrm>
            <a:off x="3998310" y="5054804"/>
            <a:ext cx="609900" cy="9000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61" name="Google Shape;261;p8" descr="preencoded.png"/>
          <p:cNvPicPr preferRelativeResize="0"/>
          <p:nvPr/>
        </p:nvPicPr>
        <p:blipFill rotWithShape="1">
          <a:blip r:embed="rId4">
            <a:alphaModFix/>
          </a:blip>
          <a:srcRect t="-10" b="-9"/>
          <a:stretch/>
        </p:blipFill>
        <p:spPr>
          <a:xfrm>
            <a:off x="2260950" y="3074525"/>
            <a:ext cx="7619700" cy="1289101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8"/>
          <p:cNvSpPr txBox="1"/>
          <p:nvPr/>
        </p:nvSpPr>
        <p:spPr>
          <a:xfrm>
            <a:off x="5624572" y="6253929"/>
            <a:ext cx="1655100" cy="19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Open Sans"/>
              <a:buNone/>
            </a:pPr>
            <a:r>
              <a:rPr lang="en-US" sz="1000" b="1" i="0" u="none" strike="noStrike" cap="none" dirty="0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Date : </a:t>
            </a:r>
            <a:r>
              <a:rPr lang="en-US" sz="1000" b="1" dirty="0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06</a:t>
            </a:r>
            <a:r>
              <a:rPr lang="en-US" sz="1000" b="1" i="0" u="none" strike="noStrike" cap="none" dirty="0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/02/2026</a:t>
            </a:r>
            <a:endParaRPr sz="1000" b="1" i="0" u="none" strike="noStrike" cap="none" dirty="0">
              <a:solidFill>
                <a:schemeClr val="dk1"/>
              </a:solidFill>
              <a:latin typeface="Syne"/>
              <a:ea typeface="Syne"/>
              <a:cs typeface="Syne"/>
              <a:sym typeface="Syne"/>
            </a:endParaRPr>
          </a:p>
        </p:txBody>
      </p:sp>
      <p:grpSp>
        <p:nvGrpSpPr>
          <p:cNvPr id="263" name="Google Shape;263;p8"/>
          <p:cNvGrpSpPr/>
          <p:nvPr/>
        </p:nvGrpSpPr>
        <p:grpSpPr>
          <a:xfrm>
            <a:off x="2625984" y="2182658"/>
            <a:ext cx="6609255" cy="1767548"/>
            <a:chOff x="4725600" y="2978925"/>
            <a:chExt cx="3312578" cy="885900"/>
          </a:xfrm>
        </p:grpSpPr>
        <p:sp>
          <p:nvSpPr>
            <p:cNvPr id="264" name="Google Shape;264;p8"/>
            <p:cNvSpPr txBox="1"/>
            <p:nvPr/>
          </p:nvSpPr>
          <p:spPr>
            <a:xfrm>
              <a:off x="4725600" y="2978925"/>
              <a:ext cx="2668800" cy="8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0774"/>
                <a:buFont typeface="Syne"/>
                <a:buNone/>
              </a:pPr>
              <a:r>
                <a:rPr lang="en-US" sz="10774" b="1">
                  <a:solidFill>
                    <a:srgbClr val="FFFFFF"/>
                  </a:solidFill>
                  <a:latin typeface="Syne"/>
                  <a:ea typeface="Syne"/>
                  <a:cs typeface="Syne"/>
                  <a:sym typeface="Syne"/>
                </a:rPr>
                <a:t>Merci </a:t>
              </a:r>
              <a:endParaRPr sz="107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65" name="Google Shape;265;p8" descr="preencoded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381603" y="3159249"/>
              <a:ext cx="656575" cy="5252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</TotalTime>
  <Words>424</Words>
  <Application>Microsoft Office PowerPoint</Application>
  <PresentationFormat>Grand écran</PresentationFormat>
  <Paragraphs>56</Paragraphs>
  <Slides>5</Slides>
  <Notes>5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10" baseType="lpstr">
      <vt:lpstr>Arial</vt:lpstr>
      <vt:lpstr>Calibri</vt:lpstr>
      <vt:lpstr>Syne</vt:lpstr>
      <vt:lpstr>Open Sans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Ilyess ELHATTAB</cp:lastModifiedBy>
  <cp:revision>11</cp:revision>
  <dcterms:modified xsi:type="dcterms:W3CDTF">2026-02-06T13:55:32Z</dcterms:modified>
</cp:coreProperties>
</file>